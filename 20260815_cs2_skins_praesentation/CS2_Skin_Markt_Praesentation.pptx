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A89FF7-9886-47CF-8826-E94C4BB773B2}" v="27" dt="2026-08-15T14:47:17.018"/>
    <p1510:client id="{DC295247-D364-9ACF-8C52-15DA80C5B3FE}" v="443" dt="2026-08-15T14:29:32.6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DC295247-D364-9ACF-8C52-15DA80C5B3FE}"/>
    <pc:docChg chg="modSld">
      <pc:chgData name="Guest User" userId="" providerId="Windows Live" clId="Web-{DC295247-D364-9ACF-8C52-15DA80C5B3FE}" dt="2026-08-15T14:29:31.947" v="209" actId="20577"/>
      <pc:docMkLst>
        <pc:docMk/>
      </pc:docMkLst>
      <pc:sldChg chg="modSp">
        <pc:chgData name="Guest User" userId="" providerId="Windows Live" clId="Web-{DC295247-D364-9ACF-8C52-15DA80C5B3FE}" dt="2026-08-15T14:29:31.947" v="209" actId="20577"/>
        <pc:sldMkLst>
          <pc:docMk/>
          <pc:sldMk cId="0" sldId="262"/>
        </pc:sldMkLst>
        <pc:spChg chg="mod ord">
          <ac:chgData name="Guest User" userId="" providerId="Windows Live" clId="Web-{DC295247-D364-9ACF-8C52-15DA80C5B3FE}" dt="2026-08-15T14:29:31.947" v="209" actId="20577"/>
          <ac:spMkLst>
            <pc:docMk/>
            <pc:sldMk cId="0" sldId="262"/>
            <ac:spMk id="2" creationId="{00000000-0000-0000-0000-000000000000}"/>
          </ac:spMkLst>
        </pc:spChg>
      </pc:sldChg>
    </pc:docChg>
  </pc:docChgLst>
  <pc:docChgLst>
    <pc:chgData name="Noah M." userId="e4d0ff59b166d147" providerId="LiveId" clId="{EDAA4114-C130-4E9C-BA62-FF5ABC761C12}"/>
    <pc:docChg chg="undo custSel delSld modSld">
      <pc:chgData name="Noah M." userId="e4d0ff59b166d147" providerId="LiveId" clId="{EDAA4114-C130-4E9C-BA62-FF5ABC761C12}" dt="2026-08-15T14:47:17.018" v="26" actId="20577"/>
      <pc:docMkLst>
        <pc:docMk/>
      </pc:docMkLst>
      <pc:sldChg chg="modSp mod">
        <pc:chgData name="Noah M." userId="e4d0ff59b166d147" providerId="LiveId" clId="{EDAA4114-C130-4E9C-BA62-FF5ABC761C12}" dt="2026-08-15T14:47:17.018" v="26" actId="20577"/>
        <pc:sldMkLst>
          <pc:docMk/>
          <pc:sldMk cId="0" sldId="262"/>
        </pc:sldMkLst>
        <pc:spChg chg="mod">
          <ac:chgData name="Noah M." userId="e4d0ff59b166d147" providerId="LiveId" clId="{EDAA4114-C130-4E9C-BA62-FF5ABC761C12}" dt="2026-08-15T14:47:17.018" v="26" actId="20577"/>
          <ac:spMkLst>
            <pc:docMk/>
            <pc:sldMk cId="0" sldId="262"/>
            <ac:spMk id="2" creationId="{00000000-0000-0000-0000-000000000000}"/>
          </ac:spMkLst>
        </pc:spChg>
      </pc:sldChg>
      <pc:sldChg chg="modSp mod">
        <pc:chgData name="Noah M." userId="e4d0ff59b166d147" providerId="LiveId" clId="{EDAA4114-C130-4E9C-BA62-FF5ABC761C12}" dt="2026-08-15T14:31:39.268" v="24" actId="20577"/>
        <pc:sldMkLst>
          <pc:docMk/>
          <pc:sldMk cId="0" sldId="272"/>
        </pc:sldMkLst>
        <pc:spChg chg="mod">
          <ac:chgData name="Noah M." userId="e4d0ff59b166d147" providerId="LiveId" clId="{EDAA4114-C130-4E9C-BA62-FF5ABC761C12}" dt="2026-08-15T14:31:39.268" v="24" actId="20577"/>
          <ac:spMkLst>
            <pc:docMk/>
            <pc:sldMk cId="0" sldId="272"/>
            <ac:spMk id="6" creationId="{00000000-0000-0000-0000-000000000000}"/>
          </ac:spMkLst>
        </pc:spChg>
      </pc:sldChg>
      <pc:sldChg chg="del">
        <pc:chgData name="Noah M." userId="e4d0ff59b166d147" providerId="LiveId" clId="{EDAA4114-C130-4E9C-BA62-FF5ABC761C12}" dt="2026-08-15T14:32:44.727" v="25" actId="47"/>
        <pc:sldMkLst>
          <pc:docMk/>
          <pc:sldMk cId="0" sldId="27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9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2148840"/>
            <a:ext cx="99971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ECECEC"/>
                </a:solidFill>
                <a:latin typeface="Segoe UI"/>
              </a:rPr>
              <a:t>Counter-Strike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5090007" y="3310128"/>
            <a:ext cx="2011680" cy="54864"/>
          </a:xfrm>
          <a:prstGeom prst="rect">
            <a:avLst/>
          </a:prstGeom>
          <a:solidFill>
            <a:srgbClr val="DE9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3520440"/>
            <a:ext cx="99971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DE9535"/>
                </a:solidFill>
                <a:latin typeface="Segoe UI"/>
              </a:rPr>
              <a:t>Der Skin-Markt: Finishes, Floats, Marktplätze &amp; Preisbildung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206240"/>
            <a:ext cx="99971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8ADB8"/>
                </a:solidFill>
                <a:latin typeface="Segoe UI"/>
              </a:rPr>
              <a:t>Stand: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9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ECECEC"/>
                </a:solidFill>
                <a:latin typeface="Segoe UI"/>
              </a:rPr>
              <a:t>Inhaltsverzeichnis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463040" cy="50292"/>
          </a:xfrm>
          <a:prstGeom prst="rect">
            <a:avLst/>
          </a:prstGeom>
          <a:solidFill>
            <a:srgbClr val="DE9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A8ADB8"/>
                </a:solidFill>
                <a:latin typeface="Segoe UI"/>
              </a:rPr>
              <a:t>CS2 Skin-Markt · Stand: August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ADB8"/>
                </a:solidFill>
                <a:latin typeface="Segoe U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8488"/>
            <a:ext cx="5272887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 i="0">
                <a:solidFill>
                  <a:srgbClr val="DE9535"/>
                </a:solidFill>
                <a:latin typeface="Segoe UI"/>
              </a:rPr>
              <a:t>01  </a:t>
            </a:r>
            <a:r>
              <a:rPr sz="1700" b="0" i="0">
                <a:solidFill>
                  <a:srgbClr val="ECECEC"/>
                </a:solidFill>
                <a:latin typeface="Segoe UI"/>
              </a:rPr>
              <a:t>Grundlagen: Was sind Skins?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DE9535"/>
                </a:solidFill>
                <a:latin typeface="Segoe UI"/>
              </a:rPr>
              <a:t>02  </a:t>
            </a:r>
            <a:r>
              <a:rPr sz="1700" b="0" i="0">
                <a:solidFill>
                  <a:srgbClr val="ECECEC"/>
                </a:solidFill>
                <a:latin typeface="Segoe UI"/>
              </a:rPr>
              <a:t>Der Skin-Markt in Zahlen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DE9535"/>
                </a:solidFill>
                <a:latin typeface="Segoe UI"/>
              </a:rPr>
              <a:t>03  </a:t>
            </a:r>
            <a:r>
              <a:rPr sz="1700" b="0" i="0">
                <a:solidFill>
                  <a:srgbClr val="ECECEC"/>
                </a:solidFill>
                <a:latin typeface="Segoe UI"/>
              </a:rPr>
              <a:t>Was ist ein Finish?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DE9535"/>
                </a:solidFill>
                <a:latin typeface="Segoe UI"/>
              </a:rPr>
              <a:t>04  </a:t>
            </a:r>
            <a:r>
              <a:rPr sz="1700" b="0" i="0">
                <a:solidFill>
                  <a:srgbClr val="ECECEC"/>
                </a:solidFill>
                <a:latin typeface="Segoe UI"/>
              </a:rPr>
              <a:t>Was ist ein Float? (Abnutzungsgrade)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DE9535"/>
                </a:solidFill>
                <a:latin typeface="Segoe UI"/>
              </a:rPr>
              <a:t>05  </a:t>
            </a:r>
            <a:r>
              <a:rPr sz="1700" b="0" i="0">
                <a:solidFill>
                  <a:srgbClr val="ECECEC"/>
                </a:solidFill>
                <a:latin typeface="Segoe UI"/>
              </a:rPr>
              <a:t>Seltenheit, StatTrak &amp; Besonderheiten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DE9535"/>
                </a:solidFill>
                <a:latin typeface="Segoe UI"/>
              </a:rPr>
              <a:t>06  </a:t>
            </a:r>
            <a:r>
              <a:rPr sz="1700" b="0" i="0">
                <a:solidFill>
                  <a:srgbClr val="ECECEC"/>
                </a:solidFill>
                <a:latin typeface="Segoe UI"/>
              </a:rPr>
              <a:t>Messer-Typen im Überblick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DE9535"/>
                </a:solidFill>
                <a:latin typeface="Segoe UI"/>
              </a:rPr>
              <a:t>07  </a:t>
            </a:r>
            <a:r>
              <a:rPr sz="1700" b="0" i="0">
                <a:solidFill>
                  <a:srgbClr val="ECECEC"/>
                </a:solidFill>
                <a:latin typeface="Segoe UI"/>
              </a:rPr>
              <a:t>Marktplätze: drei Grundmodelle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70167" y="1618488"/>
            <a:ext cx="5272887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 i="0">
                <a:solidFill>
                  <a:srgbClr val="DE9535"/>
                </a:solidFill>
                <a:latin typeface="Segoe UI"/>
              </a:rPr>
              <a:t>08  </a:t>
            </a:r>
            <a:r>
              <a:rPr sz="1700" b="0" i="0">
                <a:solidFill>
                  <a:srgbClr val="ECECEC"/>
                </a:solidFill>
                <a:latin typeface="Segoe UI"/>
              </a:rPr>
              <a:t>Steam Market · CSFloat · CS.MONEY &amp; Co.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DE9535"/>
                </a:solidFill>
                <a:latin typeface="Segoe UI"/>
              </a:rPr>
              <a:t>09  </a:t>
            </a:r>
            <a:r>
              <a:rPr sz="1700" b="0" i="0">
                <a:solidFill>
                  <a:srgbClr val="ECECEC"/>
                </a:solidFill>
                <a:latin typeface="Segoe UI"/>
              </a:rPr>
              <a:t>Marktplatz-Vergleich: Gebühren &amp; Auszahlung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DE9535"/>
                </a:solidFill>
                <a:latin typeface="Segoe UI"/>
              </a:rPr>
              <a:t>10  </a:t>
            </a:r>
            <a:r>
              <a:rPr sz="1700" b="0" i="0">
                <a:solidFill>
                  <a:srgbClr val="ECECEC"/>
                </a:solidFill>
                <a:latin typeface="Segoe UI"/>
              </a:rPr>
              <a:t>Preisbildung: Was macht einen Skin wertvoll?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DE9535"/>
                </a:solidFill>
                <a:latin typeface="Segoe UI"/>
              </a:rPr>
              <a:t>11  </a:t>
            </a:r>
            <a:r>
              <a:rPr sz="1700" b="0" i="0">
                <a:solidFill>
                  <a:srgbClr val="ECECEC"/>
                </a:solidFill>
                <a:latin typeface="Segoe UI"/>
              </a:rPr>
              <a:t>Warum steigen manche Skins im Preis?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DE9535"/>
                </a:solidFill>
                <a:latin typeface="Segoe UI"/>
              </a:rPr>
              <a:t>12  </a:t>
            </a:r>
            <a:r>
              <a:rPr sz="1700" b="0" i="0">
                <a:solidFill>
                  <a:srgbClr val="ECECEC"/>
                </a:solidFill>
                <a:latin typeface="Segoe UI"/>
              </a:rPr>
              <a:t>Fallbeispiel: Huntsman Knife | Lore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DE9535"/>
                </a:solidFill>
                <a:latin typeface="Segoe UI"/>
              </a:rPr>
              <a:t>13  </a:t>
            </a:r>
            <a:r>
              <a:rPr sz="1700" b="0" i="0">
                <a:solidFill>
                  <a:srgbClr val="ECECEC"/>
                </a:solidFill>
                <a:latin typeface="Segoe UI"/>
              </a:rPr>
              <a:t>Kauf-Checkliste, Strategien &amp; Fazit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9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ECECEC"/>
                </a:solidFill>
                <a:latin typeface="Segoe UI"/>
              </a:rPr>
              <a:t>Grundlagen: Was sind Skins?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463040" cy="50292"/>
          </a:xfrm>
          <a:prstGeom prst="rect">
            <a:avLst/>
          </a:prstGeom>
          <a:solidFill>
            <a:srgbClr val="DE9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A8ADB8"/>
                </a:solidFill>
                <a:latin typeface="Segoe UI"/>
              </a:rPr>
              <a:t>CS2 Skin-Markt · Stand: August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ADB8"/>
                </a:solidFill>
                <a:latin typeface="Segoe U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94415" cy="4828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 i="0">
                <a:solidFill>
                  <a:srgbClr val="DE9535"/>
                </a:solidFill>
                <a:latin typeface="Segoe UI"/>
              </a:rPr>
              <a:t>Kosmetische Waffen-Designs — kein spielerischer Vorteil</a:t>
            </a:r>
          </a:p>
          <a:p>
            <a:pPr marL="228600" indent="-228600">
              <a:spcAft>
                <a:spcPts val="900"/>
              </a:spcAft>
            </a:pPr>
            <a:r>
              <a:rPr sz="1500" b="1" i="0">
                <a:solidFill>
                  <a:srgbClr val="DE953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ECECEC"/>
                </a:solidFill>
                <a:latin typeface="Segoe UI"/>
              </a:rPr>
              <a:t>2013: Das „Arms Deal“-Update führt Skins in CS:GO ein</a:t>
            </a:r>
          </a:p>
          <a:p>
            <a:pPr marL="228600" indent="-228600">
              <a:spcAft>
                <a:spcPts val="900"/>
              </a:spcAft>
            </a:pPr>
            <a:r>
              <a:rPr sz="1500" b="1" i="0">
                <a:solidFill>
                  <a:srgbClr val="DE953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ECECEC"/>
                </a:solidFill>
                <a:latin typeface="Segoe UI"/>
              </a:rPr>
              <a:t>2023: Umstieg auf Counter-Strike 2 — alle Skins wurden übernommen</a:t>
            </a:r>
          </a:p>
          <a:p>
            <a:pPr marL="228600" indent="-228600">
              <a:spcAft>
                <a:spcPts val="900"/>
              </a:spcAft>
            </a:pPr>
            <a:r>
              <a:rPr sz="1500" b="1" i="0">
                <a:solidFill>
                  <a:srgbClr val="DE953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ECECEC"/>
                </a:solidFill>
                <a:latin typeface="Segoe UI"/>
              </a:rPr>
              <a:t>Woher bekommt man Skins?</a:t>
            </a:r>
          </a:p>
          <a:p>
            <a:pPr marL="685800" indent="-228600">
              <a:spcAft>
                <a:spcPts val="700"/>
              </a:spcAft>
            </a:pPr>
            <a:r>
              <a:rPr sz="1400" b="0" i="0">
                <a:solidFill>
                  <a:srgbClr val="A8ADB8"/>
                </a:solidFill>
                <a:latin typeface="Segoe UI"/>
              </a:rPr>
              <a:t>–  </a:t>
            </a:r>
            <a:r>
              <a:rPr sz="1400" b="0" i="0">
                <a:solidFill>
                  <a:srgbClr val="ECECEC"/>
                </a:solidFill>
                <a:latin typeface="Segoe UI"/>
              </a:rPr>
              <a:t>Wöchentliche Drops fürs Spielen</a:t>
            </a:r>
          </a:p>
          <a:p>
            <a:pPr marL="685800" indent="-228600">
              <a:spcAft>
                <a:spcPts val="700"/>
              </a:spcAft>
            </a:pPr>
            <a:r>
              <a:rPr sz="1400" b="0" i="0">
                <a:solidFill>
                  <a:srgbClr val="A8ADB8"/>
                </a:solidFill>
                <a:latin typeface="Segoe UI"/>
              </a:rPr>
              <a:t>–  </a:t>
            </a:r>
            <a:r>
              <a:rPr sz="1400" b="0" i="0">
                <a:solidFill>
                  <a:srgbClr val="ECECEC"/>
                </a:solidFill>
                <a:latin typeface="Segoe UI"/>
              </a:rPr>
              <a:t>Kisten (Cases) öffnen — der Schlüssel kostet ca. 2,50 €</a:t>
            </a:r>
          </a:p>
          <a:p>
            <a:pPr marL="685800" indent="-228600">
              <a:spcAft>
                <a:spcPts val="700"/>
              </a:spcAft>
            </a:pPr>
            <a:r>
              <a:rPr sz="1400" b="0" i="0">
                <a:solidFill>
                  <a:srgbClr val="A8ADB8"/>
                </a:solidFill>
                <a:latin typeface="Segoe UI"/>
              </a:rPr>
              <a:t>–  </a:t>
            </a:r>
            <a:r>
              <a:rPr sz="1400" b="0" i="0">
                <a:solidFill>
                  <a:srgbClr val="ECECEC"/>
                </a:solidFill>
                <a:latin typeface="Segoe UI"/>
              </a:rPr>
              <a:t>Trade-Up-Vertrag: 10 Skins einer Stufe → 1 Skin der nächsthöheren</a:t>
            </a:r>
          </a:p>
          <a:p>
            <a:pPr marL="685800" indent="-228600">
              <a:spcAft>
                <a:spcPts val="700"/>
              </a:spcAft>
            </a:pPr>
            <a:r>
              <a:rPr sz="1400" b="0" i="0">
                <a:solidFill>
                  <a:srgbClr val="A8ADB8"/>
                </a:solidFill>
                <a:latin typeface="Segoe UI"/>
              </a:rPr>
              <a:t>–  </a:t>
            </a:r>
            <a:r>
              <a:rPr sz="1400" b="0" i="0">
                <a:solidFill>
                  <a:srgbClr val="ECECEC"/>
                </a:solidFill>
                <a:latin typeface="Segoe UI"/>
              </a:rPr>
              <a:t>Kauf auf dem Steam Market oder bei Drittanbietern</a:t>
            </a:r>
          </a:p>
          <a:p>
            <a:pPr marL="228600" indent="-228600">
              <a:spcAft>
                <a:spcPts val="900"/>
              </a:spcAft>
            </a:pPr>
            <a:r>
              <a:rPr sz="1500" b="1" i="0">
                <a:solidFill>
                  <a:srgbClr val="DE953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ECECEC"/>
                </a:solidFill>
                <a:latin typeface="Segoe UI"/>
              </a:rPr>
              <a:t>Jeder Skin ist ein handelbares Steam-Item mit realem Marktwert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9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ECECEC"/>
                </a:solidFill>
                <a:latin typeface="Segoe UI"/>
              </a:rPr>
              <a:t>Der Skin-Markt in Zahlen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463040" cy="50292"/>
          </a:xfrm>
          <a:prstGeom prst="rect">
            <a:avLst/>
          </a:prstGeom>
          <a:solidFill>
            <a:srgbClr val="DE9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A8ADB8"/>
                </a:solidFill>
                <a:latin typeface="Segoe UI"/>
              </a:rPr>
              <a:t>CS2 Skin-Markt · Stand: August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ADB8"/>
                </a:solidFill>
                <a:latin typeface="Segoe U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94415" cy="4828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 i="0">
                <a:solidFill>
                  <a:srgbClr val="DE9535"/>
                </a:solidFill>
                <a:latin typeface="Segoe UI"/>
              </a:rPr>
              <a:t>Aus einem Spiel-Feature wurde ein Milliardenmarkt</a:t>
            </a:r>
          </a:p>
          <a:p>
            <a:pPr marL="228600" indent="-228600">
              <a:spcAft>
                <a:spcPts val="900"/>
              </a:spcAft>
            </a:pPr>
            <a:r>
              <a:rPr sz="1600" b="1" i="0">
                <a:solidFill>
                  <a:srgbClr val="DE953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ECECEC"/>
                </a:solidFill>
                <a:latin typeface="Segoe UI"/>
              </a:rPr>
              <a:t>Gesamtwert aller CS2-Skins: mehrere Milliarden US-Dollar</a:t>
            </a:r>
          </a:p>
          <a:p>
            <a:pPr marL="228600" indent="-228600">
              <a:spcAft>
                <a:spcPts val="900"/>
              </a:spcAft>
            </a:pPr>
            <a:r>
              <a:rPr sz="1600" b="1" i="0">
                <a:solidFill>
                  <a:srgbClr val="DE953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ECECEC"/>
                </a:solidFill>
                <a:latin typeface="Segoe UI"/>
              </a:rPr>
              <a:t>CS2 ist dauerhaft das meistgespielte Spiel auf Steam (regelmäßig über 1 Mio. gleichzeitige Spieler)</a:t>
            </a:r>
          </a:p>
          <a:p>
            <a:pPr marL="228600" indent="-228600">
              <a:spcAft>
                <a:spcPts val="900"/>
              </a:spcAft>
            </a:pPr>
            <a:r>
              <a:rPr sz="1600" b="1" i="0">
                <a:solidFill>
                  <a:srgbClr val="DE953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ECECEC"/>
                </a:solidFill>
                <a:latin typeface="Segoe UI"/>
              </a:rPr>
              <a:t>Steam Community Market plus Dutzende Drittanbieter-Marktplätze</a:t>
            </a:r>
          </a:p>
          <a:p>
            <a:pPr marL="228600" indent="-228600">
              <a:spcAft>
                <a:spcPts val="900"/>
              </a:spcAft>
            </a:pPr>
            <a:r>
              <a:rPr sz="1600" b="1" i="0">
                <a:solidFill>
                  <a:srgbClr val="DE953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ECECEC"/>
                </a:solidFill>
                <a:latin typeface="Segoe UI"/>
              </a:rPr>
              <a:t>China (Buff163, Youpin) ist der größte Einzelmarkt und gilt als globale Preisreferenz</a:t>
            </a:r>
          </a:p>
          <a:p>
            <a:pPr marL="228600" indent="-228600">
              <a:spcAft>
                <a:spcPts val="900"/>
              </a:spcAft>
            </a:pPr>
            <a:r>
              <a:rPr sz="1600" b="1" i="0">
                <a:solidFill>
                  <a:srgbClr val="DE953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ECECEC"/>
                </a:solidFill>
                <a:latin typeface="Segoe UI"/>
              </a:rPr>
              <a:t>Seltene Einzelstücke erzielen fünf- bis siebenstellige Preise (z. B. Karambit Case Hardened „Blue Gem“)</a:t>
            </a:r>
          </a:p>
          <a:p>
            <a:pPr marL="228600" indent="-228600">
              <a:spcAft>
                <a:spcPts val="900"/>
              </a:spcAft>
            </a:pPr>
            <a:r>
              <a:rPr sz="1600" b="1" i="0">
                <a:solidFill>
                  <a:srgbClr val="DE953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ECECEC"/>
                </a:solidFill>
                <a:latin typeface="Segoe UI"/>
              </a:rPr>
              <a:t>Aber: unregulierter Markt — Preise schwanken stark, auch Crashes kommen vor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9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ECECEC"/>
                </a:solidFill>
                <a:latin typeface="Segoe UI"/>
              </a:rPr>
              <a:t>Was ist ein Finish?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463040" cy="50292"/>
          </a:xfrm>
          <a:prstGeom prst="rect">
            <a:avLst/>
          </a:prstGeom>
          <a:solidFill>
            <a:srgbClr val="DE9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A8ADB8"/>
                </a:solidFill>
                <a:latin typeface="Segoe UI"/>
              </a:rPr>
              <a:t>CS2 Skin-Markt · Stand: August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ADB8"/>
                </a:solidFill>
                <a:latin typeface="Segoe U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94415" cy="4828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 i="0">
                <a:solidFill>
                  <a:srgbClr val="DE9535"/>
                </a:solidFill>
                <a:latin typeface="Segoe UI"/>
              </a:rPr>
              <a:t>Das Finish ist das Design — die „Lackierung“ — eines Skins</a:t>
            </a:r>
          </a:p>
          <a:p>
            <a:pPr marL="228600" indent="-228600">
              <a:spcAft>
                <a:spcPts val="900"/>
              </a:spcAft>
            </a:pPr>
            <a:r>
              <a:rPr sz="1500" b="1" i="0">
                <a:solidFill>
                  <a:srgbClr val="DE953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ECECEC"/>
                </a:solidFill>
                <a:latin typeface="Segoe UI"/>
              </a:rPr>
              <a:t>Jeder Skin = Waffe + Finish, z. B. „AK-47 | Redline“</a:t>
            </a:r>
          </a:p>
          <a:p>
            <a:pPr marL="228600" indent="-228600">
              <a:spcAft>
                <a:spcPts val="900"/>
              </a:spcAft>
            </a:pPr>
            <a:r>
              <a:rPr sz="1500" b="1" i="0">
                <a:solidFill>
                  <a:srgbClr val="DE953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ECECEC"/>
                </a:solidFill>
                <a:latin typeface="Segoe UI"/>
              </a:rPr>
              <a:t>Finish-Stile (Auswahl):</a:t>
            </a:r>
          </a:p>
          <a:p>
            <a:pPr marL="685800" indent="-228600">
              <a:spcAft>
                <a:spcPts val="700"/>
              </a:spcAft>
            </a:pPr>
            <a:r>
              <a:rPr sz="1400" b="0" i="0">
                <a:solidFill>
                  <a:srgbClr val="A8ADB8"/>
                </a:solidFill>
                <a:latin typeface="Segoe UI"/>
              </a:rPr>
              <a:t>–  </a:t>
            </a:r>
            <a:r>
              <a:rPr sz="1400" b="0" i="0">
                <a:solidFill>
                  <a:srgbClr val="ECECEC"/>
                </a:solidFill>
                <a:latin typeface="Segoe UI"/>
              </a:rPr>
              <a:t>Solid Color / Spray Paint — einfache Lackierungen</a:t>
            </a:r>
          </a:p>
          <a:p>
            <a:pPr marL="685800" indent="-228600">
              <a:spcAft>
                <a:spcPts val="700"/>
              </a:spcAft>
            </a:pPr>
            <a:r>
              <a:rPr sz="1400" b="0" i="0">
                <a:solidFill>
                  <a:srgbClr val="A8ADB8"/>
                </a:solidFill>
                <a:latin typeface="Segoe UI"/>
              </a:rPr>
              <a:t>–  </a:t>
            </a:r>
            <a:r>
              <a:rPr sz="1400" b="0" i="0">
                <a:solidFill>
                  <a:srgbClr val="ECECEC"/>
                </a:solidFill>
                <a:latin typeface="Segoe UI"/>
              </a:rPr>
              <a:t>Hydrographic / Anodized — Muster bzw. eloxierte Oberflächen</a:t>
            </a:r>
          </a:p>
          <a:p>
            <a:pPr marL="685800" indent="-228600">
              <a:spcAft>
                <a:spcPts val="700"/>
              </a:spcAft>
            </a:pPr>
            <a:r>
              <a:rPr sz="1400" b="0" i="0">
                <a:solidFill>
                  <a:srgbClr val="A8ADB8"/>
                </a:solidFill>
                <a:latin typeface="Segoe UI"/>
              </a:rPr>
              <a:t>–  </a:t>
            </a:r>
            <a:r>
              <a:rPr sz="1400" b="0" i="0">
                <a:solidFill>
                  <a:srgbClr val="ECECEC"/>
                </a:solidFill>
                <a:latin typeface="Segoe UI"/>
              </a:rPr>
              <a:t>Case Hardened — zufälliges Blau-Gold-Muster: das Pattern entscheidet über den Wert!</a:t>
            </a:r>
          </a:p>
          <a:p>
            <a:pPr marL="685800" indent="-228600">
              <a:spcAft>
                <a:spcPts val="700"/>
              </a:spcAft>
            </a:pPr>
            <a:r>
              <a:rPr sz="1400" b="0" i="0">
                <a:solidFill>
                  <a:srgbClr val="A8ADB8"/>
                </a:solidFill>
                <a:latin typeface="Segoe UI"/>
              </a:rPr>
              <a:t>–  </a:t>
            </a:r>
            <a:r>
              <a:rPr sz="1400" b="0" i="0">
                <a:solidFill>
                  <a:srgbClr val="ECECEC"/>
                </a:solidFill>
                <a:latin typeface="Segoe UI"/>
              </a:rPr>
              <a:t>Gunsmith / Custom Paint Job — aufwendige, detaillierte Designs</a:t>
            </a:r>
          </a:p>
          <a:p>
            <a:pPr marL="228600" indent="-228600">
              <a:spcAft>
                <a:spcPts val="900"/>
              </a:spcAft>
            </a:pPr>
            <a:r>
              <a:rPr sz="1500" b="1" i="0">
                <a:solidFill>
                  <a:srgbClr val="DE953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ECECEC"/>
                </a:solidFill>
                <a:latin typeface="Segoe UI"/>
              </a:rPr>
              <a:t>Sonderfälle mit Phasen und Prozenten:</a:t>
            </a:r>
          </a:p>
          <a:p>
            <a:pPr marL="685800" indent="-228600">
              <a:spcAft>
                <a:spcPts val="700"/>
              </a:spcAft>
            </a:pPr>
            <a:r>
              <a:rPr sz="1400" b="0" i="0">
                <a:solidFill>
                  <a:srgbClr val="A8ADB8"/>
                </a:solidFill>
                <a:latin typeface="Segoe UI"/>
              </a:rPr>
              <a:t>–  </a:t>
            </a:r>
            <a:r>
              <a:rPr sz="1400" b="0" i="0">
                <a:solidFill>
                  <a:srgbClr val="ECECEC"/>
                </a:solidFill>
                <a:latin typeface="Segoe UI"/>
              </a:rPr>
              <a:t>Doppler: Phase 1–4, Ruby, Sapphire, Black Pearl — gleiche Kiste, riesige Preisunterschiede</a:t>
            </a:r>
          </a:p>
          <a:p>
            <a:pPr marL="685800" indent="-228600">
              <a:spcAft>
                <a:spcPts val="700"/>
              </a:spcAft>
            </a:pPr>
            <a:r>
              <a:rPr sz="1400" b="0" i="0">
                <a:solidFill>
                  <a:srgbClr val="A8ADB8"/>
                </a:solidFill>
                <a:latin typeface="Segoe UI"/>
              </a:rPr>
              <a:t>–  </a:t>
            </a:r>
            <a:r>
              <a:rPr sz="1400" b="0" i="0">
                <a:solidFill>
                  <a:srgbClr val="ECECEC"/>
                </a:solidFill>
                <a:latin typeface="Segoe UI"/>
              </a:rPr>
              <a:t>Fade: Farbverlauf in Prozent — „100 % Fade“ ist die teuerste Variante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9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ECECEC"/>
                </a:solidFill>
                <a:latin typeface="Segoe UI"/>
              </a:rPr>
              <a:t>Was ist ein Float? Die Abnutzungsgrade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463040" cy="50292"/>
          </a:xfrm>
          <a:prstGeom prst="rect">
            <a:avLst/>
          </a:prstGeom>
          <a:solidFill>
            <a:srgbClr val="DE9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A8ADB8"/>
                </a:solidFill>
                <a:latin typeface="Segoe UI"/>
              </a:rPr>
              <a:t>CS2 Skin-Markt · Stand: August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ADB8"/>
                </a:solidFill>
                <a:latin typeface="Segoe U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DE9535"/>
                </a:solidFill>
                <a:latin typeface="Segoe UI"/>
              </a:rPr>
              <a:t>Der Float-Wert (0,00–1,00) beschreibt die Abnutzung. Er wird beim Öffnen/Drop festgelegt und ist für immer unveränderlich.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048256"/>
          <a:ext cx="11064240" cy="24140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A1C22"/>
                          </a:solidFill>
                          <a:latin typeface="Segoe UI"/>
                        </a:rPr>
                        <a:t>Zustand</a:t>
                      </a:r>
                    </a:p>
                  </a:txBody>
                  <a:tcPr anchor="ctr">
                    <a:solidFill>
                      <a:srgbClr val="DE9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A1C22"/>
                          </a:solidFill>
                          <a:latin typeface="Segoe UI"/>
                        </a:rPr>
                        <a:t>Kürzel</a:t>
                      </a:r>
                    </a:p>
                  </a:txBody>
                  <a:tcPr anchor="ctr">
                    <a:solidFill>
                      <a:srgbClr val="DE9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A1C22"/>
                          </a:solidFill>
                          <a:latin typeface="Segoe UI"/>
                        </a:rPr>
                        <a:t>Float-Bereich</a:t>
                      </a:r>
                    </a:p>
                  </a:txBody>
                  <a:tcPr anchor="ctr">
                    <a:solidFill>
                      <a:srgbClr val="DE9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A1C22"/>
                          </a:solidFill>
                          <a:latin typeface="Segoe UI"/>
                        </a:rPr>
                        <a:t>Preiswirkung</a:t>
                      </a:r>
                    </a:p>
                  </a:txBody>
                  <a:tcPr anchor="ctr">
                    <a:solidFill>
                      <a:srgbClr val="DE9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ECECEC"/>
                          </a:solidFill>
                          <a:latin typeface="Segoe UI"/>
                        </a:rPr>
                        <a:t>Factory New</a:t>
                      </a:r>
                    </a:p>
                  </a:txBody>
                  <a:tcPr anchor="ctr">
                    <a:solidFill>
                      <a:srgbClr val="2225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ECECEC"/>
                          </a:solidFill>
                          <a:latin typeface="Segoe UI"/>
                        </a:rPr>
                        <a:t>FN</a:t>
                      </a:r>
                    </a:p>
                  </a:txBody>
                  <a:tcPr anchor="ctr">
                    <a:solidFill>
                      <a:srgbClr val="2225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ECECEC"/>
                          </a:solidFill>
                          <a:latin typeface="Segoe UI"/>
                        </a:rPr>
                        <a:t>0,00 – 0,07</a:t>
                      </a:r>
                    </a:p>
                  </a:txBody>
                  <a:tcPr anchor="ctr">
                    <a:solidFill>
                      <a:srgbClr val="2225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ECECEC"/>
                          </a:solidFill>
                          <a:latin typeface="Segoe UI"/>
                        </a:rPr>
                        <a:t>höchster Preis</a:t>
                      </a:r>
                    </a:p>
                  </a:txBody>
                  <a:tcPr anchor="ctr">
                    <a:solidFill>
                      <a:srgbClr val="2225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ECECEC"/>
                          </a:solidFill>
                          <a:latin typeface="Segoe UI"/>
                        </a:rPr>
                        <a:t>Minimal Wear</a:t>
                      </a:r>
                    </a:p>
                  </a:txBody>
                  <a:tcPr anchor="ctr">
                    <a:solidFill>
                      <a:srgbClr val="1C1F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ECECEC"/>
                          </a:solidFill>
                          <a:latin typeface="Segoe UI"/>
                        </a:rPr>
                        <a:t>MW</a:t>
                      </a:r>
                    </a:p>
                  </a:txBody>
                  <a:tcPr anchor="ctr">
                    <a:solidFill>
                      <a:srgbClr val="1C1F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ECECEC"/>
                          </a:solidFill>
                          <a:latin typeface="Segoe UI"/>
                        </a:rPr>
                        <a:t>0,07 – 0,15</a:t>
                      </a:r>
                    </a:p>
                  </a:txBody>
                  <a:tcPr anchor="ctr">
                    <a:solidFill>
                      <a:srgbClr val="1C1F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ECECEC"/>
                          </a:solidFill>
                          <a:latin typeface="Segoe UI"/>
                        </a:rPr>
                        <a:t>kaum sichtbare Abnutzung, günstiger</a:t>
                      </a:r>
                    </a:p>
                  </a:txBody>
                  <a:tcPr anchor="ctr">
                    <a:solidFill>
                      <a:srgbClr val="1C1F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ECECEC"/>
                          </a:solidFill>
                          <a:latin typeface="Segoe UI"/>
                        </a:rPr>
                        <a:t>Field-Tested</a:t>
                      </a:r>
                    </a:p>
                  </a:txBody>
                  <a:tcPr anchor="ctr">
                    <a:solidFill>
                      <a:srgbClr val="2225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ECECEC"/>
                          </a:solidFill>
                          <a:latin typeface="Segoe UI"/>
                        </a:rPr>
                        <a:t>FT</a:t>
                      </a:r>
                    </a:p>
                  </a:txBody>
                  <a:tcPr anchor="ctr">
                    <a:solidFill>
                      <a:srgbClr val="2225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ECECEC"/>
                          </a:solidFill>
                          <a:latin typeface="Segoe UI"/>
                        </a:rPr>
                        <a:t>0,15 – 0,38</a:t>
                      </a:r>
                    </a:p>
                  </a:txBody>
                  <a:tcPr anchor="ctr">
                    <a:solidFill>
                      <a:srgbClr val="2225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ECECEC"/>
                          </a:solidFill>
                          <a:latin typeface="Segoe UI"/>
                        </a:rPr>
                        <a:t>beliebtester Preis-Leistungs-Kompromiss</a:t>
                      </a:r>
                    </a:p>
                  </a:txBody>
                  <a:tcPr anchor="ctr">
                    <a:solidFill>
                      <a:srgbClr val="2225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ECECEC"/>
                          </a:solidFill>
                          <a:latin typeface="Segoe UI"/>
                        </a:rPr>
                        <a:t>Well-Worn</a:t>
                      </a:r>
                    </a:p>
                  </a:txBody>
                  <a:tcPr anchor="ctr">
                    <a:solidFill>
                      <a:srgbClr val="1C1F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ECECEC"/>
                          </a:solidFill>
                          <a:latin typeface="Segoe UI"/>
                        </a:rPr>
                        <a:t>WW</a:t>
                      </a:r>
                    </a:p>
                  </a:txBody>
                  <a:tcPr anchor="ctr">
                    <a:solidFill>
                      <a:srgbClr val="1C1F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ECECEC"/>
                          </a:solidFill>
                          <a:latin typeface="Segoe UI"/>
                        </a:rPr>
                        <a:t>0,38 – 0,45</a:t>
                      </a:r>
                    </a:p>
                  </a:txBody>
                  <a:tcPr anchor="ctr">
                    <a:solidFill>
                      <a:srgbClr val="1C1F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ECECEC"/>
                          </a:solidFill>
                          <a:latin typeface="Segoe UI"/>
                        </a:rPr>
                        <a:t>deutlich abgenutzt, günstig</a:t>
                      </a:r>
                    </a:p>
                  </a:txBody>
                  <a:tcPr anchor="ctr">
                    <a:solidFill>
                      <a:srgbClr val="1C1F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ECECEC"/>
                          </a:solidFill>
                          <a:latin typeface="Segoe UI"/>
                        </a:rPr>
                        <a:t>Battle-Scarred</a:t>
                      </a:r>
                    </a:p>
                  </a:txBody>
                  <a:tcPr anchor="ctr">
                    <a:solidFill>
                      <a:srgbClr val="2225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ECECEC"/>
                          </a:solidFill>
                          <a:latin typeface="Segoe UI"/>
                        </a:rPr>
                        <a:t>BS</a:t>
                      </a:r>
                    </a:p>
                  </a:txBody>
                  <a:tcPr anchor="ctr">
                    <a:solidFill>
                      <a:srgbClr val="2225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ECECEC"/>
                          </a:solidFill>
                          <a:latin typeface="Segoe UI"/>
                        </a:rPr>
                        <a:t>0,45 – 1,00</a:t>
                      </a:r>
                    </a:p>
                  </a:txBody>
                  <a:tcPr anchor="ctr">
                    <a:solidFill>
                      <a:srgbClr val="2225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ECECEC"/>
                          </a:solidFill>
                          <a:latin typeface="Segoe UI"/>
                        </a:rPr>
                        <a:t>am günstigsten (Ausnahme: Sammler-Floats)</a:t>
                      </a:r>
                    </a:p>
                  </a:txBody>
                  <a:tcPr anchor="ctr">
                    <a:solidFill>
                      <a:srgbClr val="2225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020056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A8ADB8"/>
                </a:solidFill>
                <a:latin typeface="Segoe UI"/>
              </a:rPr>
              <a:t>Innerhalb einer Stufe gilt: je niedriger der Float, desto teurer — extreme Werte (z. B. 0,0001) haben hohe Sammler-Aufschläge. Viele Skins haben Float-Caps und können bestimmte Zustände gar nicht erreichen.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9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48640" y="1207008"/>
            <a:ext cx="1463040" cy="50292"/>
          </a:xfrm>
          <a:prstGeom prst="rect">
            <a:avLst/>
          </a:prstGeom>
          <a:solidFill>
            <a:srgbClr val="DE9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A8ADB8"/>
                </a:solidFill>
                <a:latin typeface="Segoe UI"/>
              </a:rPr>
              <a:t>CS2 Skin-Markt · Stand: August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ADB8"/>
                </a:solidFill>
                <a:latin typeface="Segoe UI"/>
              </a:rPr>
              <a:t>07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81328"/>
          <a:ext cx="11064239" cy="32186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490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A1C22"/>
                          </a:solidFill>
                          <a:latin typeface="Segoe UI"/>
                        </a:rPr>
                        <a:t>Seltenheit</a:t>
                      </a:r>
                    </a:p>
                  </a:txBody>
                  <a:tcPr anchor="ctr">
                    <a:solidFill>
                      <a:srgbClr val="DE9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A1C22"/>
                          </a:solidFill>
                          <a:latin typeface="Segoe UI"/>
                        </a:rPr>
                        <a:t>Chance pro Kiste</a:t>
                      </a:r>
                    </a:p>
                  </a:txBody>
                  <a:tcPr anchor="ctr">
                    <a:solidFill>
                      <a:srgbClr val="DE9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A1C22"/>
                          </a:solidFill>
                          <a:latin typeface="Segoe UI"/>
                        </a:rPr>
                        <a:t>Beispiel</a:t>
                      </a:r>
                    </a:p>
                  </a:txBody>
                  <a:tcPr anchor="ctr">
                    <a:solidFill>
                      <a:srgbClr val="DE9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B0C3D9"/>
                          </a:solidFill>
                          <a:latin typeface="Segoe UI"/>
                        </a:rPr>
                        <a:t>Consumer Grade</a:t>
                      </a:r>
                    </a:p>
                  </a:txBody>
                  <a:tcPr anchor="ctr">
                    <a:solidFill>
                      <a:srgbClr val="2225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ECECEC"/>
                          </a:solidFill>
                          <a:latin typeface="Segoe UI"/>
                        </a:rPr>
                        <a:t>— (nur Drops/Kollektionen)</a:t>
                      </a:r>
                    </a:p>
                  </a:txBody>
                  <a:tcPr anchor="ctr">
                    <a:solidFill>
                      <a:srgbClr val="2225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ECECEC"/>
                          </a:solidFill>
                          <a:latin typeface="Segoe UI"/>
                        </a:rPr>
                        <a:t>P250 | Sand Dune</a:t>
                      </a:r>
                    </a:p>
                  </a:txBody>
                  <a:tcPr anchor="ctr">
                    <a:solidFill>
                      <a:srgbClr val="2225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5E98D9"/>
                          </a:solidFill>
                          <a:latin typeface="Segoe UI"/>
                        </a:rPr>
                        <a:t>Industrial Grade</a:t>
                      </a:r>
                    </a:p>
                  </a:txBody>
                  <a:tcPr anchor="ctr">
                    <a:solidFill>
                      <a:srgbClr val="1C1F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ECECEC"/>
                          </a:solidFill>
                          <a:latin typeface="Segoe UI"/>
                        </a:rPr>
                        <a:t>— (nur Drops/Kollektionen)</a:t>
                      </a:r>
                    </a:p>
                  </a:txBody>
                  <a:tcPr anchor="ctr">
                    <a:solidFill>
                      <a:srgbClr val="1C1F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ECECEC"/>
                          </a:solidFill>
                          <a:latin typeface="Segoe UI"/>
                        </a:rPr>
                        <a:t>SSG 08 | Blue Spruce</a:t>
                      </a:r>
                    </a:p>
                  </a:txBody>
                  <a:tcPr anchor="ctr">
                    <a:solidFill>
                      <a:srgbClr val="1C1F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4B69FF"/>
                          </a:solidFill>
                          <a:latin typeface="Segoe UI"/>
                        </a:rPr>
                        <a:t>Mil-Spec</a:t>
                      </a:r>
                    </a:p>
                  </a:txBody>
                  <a:tcPr anchor="ctr">
                    <a:solidFill>
                      <a:srgbClr val="2225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ECECEC"/>
                          </a:solidFill>
                          <a:latin typeface="Segoe UI"/>
                        </a:rPr>
                        <a:t>ca. 79,9 %</a:t>
                      </a:r>
                    </a:p>
                  </a:txBody>
                  <a:tcPr anchor="ctr">
                    <a:solidFill>
                      <a:srgbClr val="2225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ECECEC"/>
                          </a:solidFill>
                          <a:latin typeface="Segoe UI"/>
                        </a:rPr>
                        <a:t>AK-47 | Elite Build</a:t>
                      </a:r>
                    </a:p>
                  </a:txBody>
                  <a:tcPr anchor="ctr">
                    <a:solidFill>
                      <a:srgbClr val="2225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8847FF"/>
                          </a:solidFill>
                          <a:latin typeface="Segoe UI"/>
                        </a:rPr>
                        <a:t>Restricted</a:t>
                      </a:r>
                    </a:p>
                  </a:txBody>
                  <a:tcPr anchor="ctr">
                    <a:solidFill>
                      <a:srgbClr val="1C1F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ECECEC"/>
                          </a:solidFill>
                          <a:latin typeface="Segoe UI"/>
                        </a:rPr>
                        <a:t>ca. 16,0 %</a:t>
                      </a:r>
                    </a:p>
                  </a:txBody>
                  <a:tcPr anchor="ctr">
                    <a:solidFill>
                      <a:srgbClr val="1C1F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ECECEC"/>
                          </a:solidFill>
                          <a:latin typeface="Segoe UI"/>
                        </a:rPr>
                        <a:t>Glock-18 | Water Elemental</a:t>
                      </a:r>
                    </a:p>
                  </a:txBody>
                  <a:tcPr anchor="ctr">
                    <a:solidFill>
                      <a:srgbClr val="1C1F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D32CE6"/>
                          </a:solidFill>
                          <a:latin typeface="Segoe UI"/>
                        </a:rPr>
                        <a:t>Classified</a:t>
                      </a:r>
                    </a:p>
                  </a:txBody>
                  <a:tcPr anchor="ctr">
                    <a:solidFill>
                      <a:srgbClr val="2225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ECECEC"/>
                          </a:solidFill>
                          <a:latin typeface="Segoe UI"/>
                        </a:rPr>
                        <a:t>ca. 3,2 %</a:t>
                      </a:r>
                    </a:p>
                  </a:txBody>
                  <a:tcPr anchor="ctr">
                    <a:solidFill>
                      <a:srgbClr val="2225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ECECEC"/>
                          </a:solidFill>
                          <a:latin typeface="Segoe UI"/>
                        </a:rPr>
                        <a:t>AK-47 | Redline</a:t>
                      </a:r>
                    </a:p>
                  </a:txBody>
                  <a:tcPr anchor="ctr">
                    <a:solidFill>
                      <a:srgbClr val="2225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EB4B4B"/>
                          </a:solidFill>
                          <a:latin typeface="Segoe UI"/>
                        </a:rPr>
                        <a:t>Covert</a:t>
                      </a:r>
                    </a:p>
                  </a:txBody>
                  <a:tcPr anchor="ctr">
                    <a:solidFill>
                      <a:srgbClr val="1C1F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ECECEC"/>
                          </a:solidFill>
                          <a:latin typeface="Segoe UI"/>
                        </a:rPr>
                        <a:t>ca. 0,64 %</a:t>
                      </a:r>
                    </a:p>
                  </a:txBody>
                  <a:tcPr anchor="ctr">
                    <a:solidFill>
                      <a:srgbClr val="1C1F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ECECEC"/>
                          </a:solidFill>
                          <a:latin typeface="Segoe UI"/>
                        </a:rPr>
                        <a:t>AWP | Asiimov</a:t>
                      </a:r>
                    </a:p>
                  </a:txBody>
                  <a:tcPr anchor="ctr">
                    <a:solidFill>
                      <a:srgbClr val="1C1F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E4AE39"/>
                          </a:solidFill>
                          <a:latin typeface="Segoe UI"/>
                        </a:rPr>
                        <a:t>★ Sonderitem</a:t>
                      </a:r>
                    </a:p>
                  </a:txBody>
                  <a:tcPr anchor="ctr">
                    <a:solidFill>
                      <a:srgbClr val="2225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ECECEC"/>
                          </a:solidFill>
                          <a:latin typeface="Segoe UI"/>
                        </a:rPr>
                        <a:t>ca. 0,26 %</a:t>
                      </a:r>
                    </a:p>
                  </a:txBody>
                  <a:tcPr anchor="ctr">
                    <a:solidFill>
                      <a:srgbClr val="2225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ECECEC"/>
                          </a:solidFill>
                          <a:latin typeface="Segoe UI"/>
                        </a:rPr>
                        <a:t>Messer &amp; Handschuhe</a:t>
                      </a:r>
                    </a:p>
                  </a:txBody>
                  <a:tcPr anchor="ctr">
                    <a:solidFill>
                      <a:srgbClr val="2225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367528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A8ADB8"/>
                </a:solidFill>
                <a:latin typeface="Segoe UI"/>
              </a:rPr>
              <a:t>Dazu kommen wertsteigernde Varianten: StatTrak™ (Kill-Zähler, ca. 10 % der Case-Drops), Souvenir (aus Major-Paketen) sowie Sticker und seltene Pattern.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48640" y="384048"/>
            <a:ext cx="11094415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3000" b="1" i="0" err="1">
                <a:solidFill>
                  <a:srgbClr val="ECECEC"/>
                </a:solidFill>
                <a:latin typeface="Segoe UI"/>
              </a:rPr>
              <a:t>Seltenheit</a:t>
            </a:r>
            <a:r>
              <a:rPr sz="3000" b="1" i="0">
                <a:solidFill>
                  <a:srgbClr val="ECECEC"/>
                </a:solidFill>
                <a:latin typeface="Segoe UI"/>
              </a:rPr>
              <a:t>, </a:t>
            </a:r>
            <a:r>
              <a:rPr sz="3000" b="1" i="0" err="1">
                <a:solidFill>
                  <a:srgbClr val="ECECEC"/>
                </a:solidFill>
                <a:latin typeface="Segoe UI"/>
              </a:rPr>
              <a:t>StatTrak</a:t>
            </a:r>
            <a:r>
              <a:rPr sz="3000" b="1" i="0">
                <a:solidFill>
                  <a:srgbClr val="ECECEC"/>
                </a:solidFill>
                <a:latin typeface="Segoe UI"/>
              </a:rPr>
              <a:t> &amp; </a:t>
            </a:r>
            <a:r>
              <a:rPr sz="3000" b="1" i="0" err="1">
                <a:solidFill>
                  <a:srgbClr val="ECECEC"/>
                </a:solidFill>
                <a:latin typeface="Segoe UI"/>
              </a:rPr>
              <a:t>Besonderheiten</a:t>
            </a:r>
            <a:br>
              <a:rPr lang="en-US"/>
            </a:br>
            <a:endParaRPr lang="en-US" sz="3000" b="1">
              <a:solidFill>
                <a:srgbClr val="ECECEC"/>
              </a:solidFill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9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ECECEC"/>
                </a:solidFill>
                <a:latin typeface="Segoe UI"/>
              </a:rPr>
              <a:t>Messer: 20 Typen — riesige Preisunterschiede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463040" cy="50292"/>
          </a:xfrm>
          <a:prstGeom prst="rect">
            <a:avLst/>
          </a:prstGeom>
          <a:solidFill>
            <a:srgbClr val="DE9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A8ADB8"/>
                </a:solidFill>
                <a:latin typeface="Segoe UI"/>
              </a:rPr>
              <a:t>CS2 Skin-Markt · Stand: August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ADB8"/>
                </a:solidFill>
                <a:latin typeface="Segoe UI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81328"/>
            <a:ext cx="3484778" cy="3931920"/>
          </a:xfrm>
          <a:prstGeom prst="roundRect">
            <a:avLst/>
          </a:prstGeom>
          <a:solidFill>
            <a:srgbClr val="222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645920"/>
            <a:ext cx="3082442" cy="3602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 i="0">
                <a:solidFill>
                  <a:srgbClr val="DE9535"/>
                </a:solidFill>
                <a:latin typeface="Segoe UI"/>
              </a:rPr>
              <a:t>Die Original-Fünf (2013)</a:t>
            </a:r>
          </a:p>
          <a:p>
            <a:pPr marL="182880" indent="-182880">
              <a:spcAft>
                <a:spcPts val="700"/>
              </a:spcAft>
            </a:pPr>
            <a:r>
              <a:rPr sz="1350" b="0" i="0">
                <a:solidFill>
                  <a:srgbClr val="DE9535"/>
                </a:solidFill>
                <a:latin typeface="Segoe UI"/>
              </a:rPr>
              <a:t>•  </a:t>
            </a:r>
            <a:r>
              <a:rPr sz="1350" b="0" i="0">
                <a:solidFill>
                  <a:srgbClr val="ECECEC"/>
                </a:solidFill>
                <a:latin typeface="Segoe UI"/>
              </a:rPr>
              <a:t>Karambit</a:t>
            </a:r>
          </a:p>
          <a:p>
            <a:pPr marL="182880" indent="-182880">
              <a:spcAft>
                <a:spcPts val="700"/>
              </a:spcAft>
            </a:pPr>
            <a:r>
              <a:rPr sz="1350" b="0" i="0">
                <a:solidFill>
                  <a:srgbClr val="DE9535"/>
                </a:solidFill>
                <a:latin typeface="Segoe UI"/>
              </a:rPr>
              <a:t>•  </a:t>
            </a:r>
            <a:r>
              <a:rPr sz="1350" b="0" i="0">
                <a:solidFill>
                  <a:srgbClr val="ECECEC"/>
                </a:solidFill>
                <a:latin typeface="Segoe UI"/>
              </a:rPr>
              <a:t>M9 Bayonet</a:t>
            </a:r>
          </a:p>
          <a:p>
            <a:pPr marL="182880" indent="-182880">
              <a:spcAft>
                <a:spcPts val="700"/>
              </a:spcAft>
            </a:pPr>
            <a:r>
              <a:rPr sz="1350" b="0" i="0">
                <a:solidFill>
                  <a:srgbClr val="DE9535"/>
                </a:solidFill>
                <a:latin typeface="Segoe UI"/>
              </a:rPr>
              <a:t>•  </a:t>
            </a:r>
            <a:r>
              <a:rPr sz="1350" b="0" i="0">
                <a:solidFill>
                  <a:srgbClr val="ECECEC"/>
                </a:solidFill>
                <a:latin typeface="Segoe UI"/>
              </a:rPr>
              <a:t>Bayonet</a:t>
            </a:r>
          </a:p>
          <a:p>
            <a:pPr marL="182880" indent="-182880">
              <a:spcAft>
                <a:spcPts val="700"/>
              </a:spcAft>
            </a:pPr>
            <a:r>
              <a:rPr sz="1350" b="0" i="0">
                <a:solidFill>
                  <a:srgbClr val="DE9535"/>
                </a:solidFill>
                <a:latin typeface="Segoe UI"/>
              </a:rPr>
              <a:t>•  </a:t>
            </a:r>
            <a:r>
              <a:rPr sz="1350" b="0" i="0">
                <a:solidFill>
                  <a:srgbClr val="ECECEC"/>
                </a:solidFill>
                <a:latin typeface="Segoe UI"/>
              </a:rPr>
              <a:t>Flip Knife</a:t>
            </a:r>
          </a:p>
          <a:p>
            <a:pPr marL="182880" indent="-182880">
              <a:spcAft>
                <a:spcPts val="700"/>
              </a:spcAft>
            </a:pPr>
            <a:r>
              <a:rPr sz="1350" b="0" i="0">
                <a:solidFill>
                  <a:srgbClr val="DE9535"/>
                </a:solidFill>
                <a:latin typeface="Segoe UI"/>
              </a:rPr>
              <a:t>•  </a:t>
            </a:r>
            <a:r>
              <a:rPr sz="1350" b="0" i="0">
                <a:solidFill>
                  <a:srgbClr val="ECECEC"/>
                </a:solidFill>
                <a:latin typeface="Segoe UI"/>
              </a:rPr>
              <a:t>Gut Knife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3458" y="1481328"/>
            <a:ext cx="3484778" cy="3931920"/>
          </a:xfrm>
          <a:prstGeom prst="roundRect">
            <a:avLst/>
          </a:prstGeom>
          <a:solidFill>
            <a:srgbClr val="222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54626" y="1645920"/>
            <a:ext cx="3082442" cy="3602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 i="0">
                <a:solidFill>
                  <a:srgbClr val="DE9535"/>
                </a:solidFill>
                <a:latin typeface="Segoe UI"/>
              </a:rPr>
              <a:t>2014 – 2016</a:t>
            </a:r>
          </a:p>
          <a:p>
            <a:pPr marL="182880" indent="-182880">
              <a:spcAft>
                <a:spcPts val="700"/>
              </a:spcAft>
            </a:pPr>
            <a:r>
              <a:rPr sz="1350" b="0" i="0">
                <a:solidFill>
                  <a:srgbClr val="DE9535"/>
                </a:solidFill>
                <a:latin typeface="Segoe UI"/>
              </a:rPr>
              <a:t>•  </a:t>
            </a:r>
            <a:r>
              <a:rPr sz="1350" b="0" i="0">
                <a:solidFill>
                  <a:srgbClr val="ECECEC"/>
                </a:solidFill>
                <a:latin typeface="Segoe UI"/>
              </a:rPr>
              <a:t>Butterfly Knife</a:t>
            </a:r>
          </a:p>
          <a:p>
            <a:pPr marL="182880" indent="-182880">
              <a:spcAft>
                <a:spcPts val="700"/>
              </a:spcAft>
            </a:pPr>
            <a:r>
              <a:rPr sz="1350" b="0" i="0">
                <a:solidFill>
                  <a:srgbClr val="DE9535"/>
                </a:solidFill>
                <a:latin typeface="Segoe UI"/>
              </a:rPr>
              <a:t>•  </a:t>
            </a:r>
            <a:r>
              <a:rPr sz="1350" b="0" i="0">
                <a:solidFill>
                  <a:srgbClr val="ECECEC"/>
                </a:solidFill>
                <a:latin typeface="Segoe UI"/>
              </a:rPr>
              <a:t>Huntsman Knife</a:t>
            </a:r>
          </a:p>
          <a:p>
            <a:pPr marL="182880" indent="-182880">
              <a:spcAft>
                <a:spcPts val="700"/>
              </a:spcAft>
            </a:pPr>
            <a:r>
              <a:rPr sz="1350" b="0" i="0">
                <a:solidFill>
                  <a:srgbClr val="DE9535"/>
                </a:solidFill>
                <a:latin typeface="Segoe UI"/>
              </a:rPr>
              <a:t>•  </a:t>
            </a:r>
            <a:r>
              <a:rPr sz="1350" b="0" i="0">
                <a:solidFill>
                  <a:srgbClr val="ECECEC"/>
                </a:solidFill>
                <a:latin typeface="Segoe UI"/>
              </a:rPr>
              <a:t>Falchion Knife</a:t>
            </a:r>
          </a:p>
          <a:p>
            <a:pPr marL="182880" indent="-182880">
              <a:spcAft>
                <a:spcPts val="700"/>
              </a:spcAft>
            </a:pPr>
            <a:r>
              <a:rPr sz="1350" b="0" i="0">
                <a:solidFill>
                  <a:srgbClr val="DE9535"/>
                </a:solidFill>
                <a:latin typeface="Segoe UI"/>
              </a:rPr>
              <a:t>•  </a:t>
            </a:r>
            <a:r>
              <a:rPr sz="1350" b="0" i="0">
                <a:solidFill>
                  <a:srgbClr val="ECECEC"/>
                </a:solidFill>
                <a:latin typeface="Segoe UI"/>
              </a:rPr>
              <a:t>Shadow Daggers</a:t>
            </a:r>
          </a:p>
          <a:p>
            <a:pPr marL="182880" indent="-182880">
              <a:spcAft>
                <a:spcPts val="700"/>
              </a:spcAft>
            </a:pPr>
            <a:r>
              <a:rPr sz="1350" b="0" i="0">
                <a:solidFill>
                  <a:srgbClr val="DE9535"/>
                </a:solidFill>
                <a:latin typeface="Segoe UI"/>
              </a:rPr>
              <a:t>•  </a:t>
            </a:r>
            <a:r>
              <a:rPr sz="1350" b="0" i="0">
                <a:solidFill>
                  <a:srgbClr val="ECECEC"/>
                </a:solidFill>
                <a:latin typeface="Segoe UI"/>
              </a:rPr>
              <a:t>Bowie Knife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8276" y="1481328"/>
            <a:ext cx="3484778" cy="3931920"/>
          </a:xfrm>
          <a:prstGeom prst="roundRect">
            <a:avLst/>
          </a:prstGeom>
          <a:solidFill>
            <a:srgbClr val="222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59444" y="1645920"/>
            <a:ext cx="3082442" cy="3602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 i="0">
                <a:solidFill>
                  <a:srgbClr val="DE9535"/>
                </a:solidFill>
                <a:latin typeface="Segoe UI"/>
              </a:rPr>
              <a:t>2018 – 2024</a:t>
            </a:r>
          </a:p>
          <a:p>
            <a:pPr marL="182880" indent="-182880">
              <a:spcAft>
                <a:spcPts val="700"/>
              </a:spcAft>
            </a:pPr>
            <a:r>
              <a:rPr sz="1350" b="0" i="0">
                <a:solidFill>
                  <a:srgbClr val="DE9535"/>
                </a:solidFill>
                <a:latin typeface="Segoe UI"/>
              </a:rPr>
              <a:t>•  </a:t>
            </a:r>
            <a:r>
              <a:rPr sz="1350" b="0" i="0">
                <a:solidFill>
                  <a:srgbClr val="ECECEC"/>
                </a:solidFill>
                <a:latin typeface="Segoe UI"/>
              </a:rPr>
              <a:t>Talon · Ursus · Stiletto · Navaja</a:t>
            </a:r>
          </a:p>
          <a:p>
            <a:pPr marL="182880" indent="-182880">
              <a:spcAft>
                <a:spcPts val="700"/>
              </a:spcAft>
            </a:pPr>
            <a:r>
              <a:rPr sz="1350" b="0" i="0">
                <a:solidFill>
                  <a:srgbClr val="DE9535"/>
                </a:solidFill>
                <a:latin typeface="Segoe UI"/>
              </a:rPr>
              <a:t>•  </a:t>
            </a:r>
            <a:r>
              <a:rPr sz="1350" b="0" i="0">
                <a:solidFill>
                  <a:srgbClr val="ECECEC"/>
                </a:solidFill>
                <a:latin typeface="Segoe UI"/>
              </a:rPr>
              <a:t>Classic Knife</a:t>
            </a:r>
          </a:p>
          <a:p>
            <a:pPr marL="182880" indent="-182880">
              <a:spcAft>
                <a:spcPts val="700"/>
              </a:spcAft>
            </a:pPr>
            <a:r>
              <a:rPr sz="1350" b="0" i="0">
                <a:solidFill>
                  <a:srgbClr val="DE9535"/>
                </a:solidFill>
                <a:latin typeface="Segoe UI"/>
              </a:rPr>
              <a:t>•  </a:t>
            </a:r>
            <a:r>
              <a:rPr sz="1350" b="0" i="0">
                <a:solidFill>
                  <a:srgbClr val="ECECEC"/>
                </a:solidFill>
                <a:latin typeface="Segoe UI"/>
              </a:rPr>
              <a:t>Nomad · Skeleton · Paracord · Survival</a:t>
            </a:r>
          </a:p>
          <a:p>
            <a:pPr marL="182880" indent="-182880">
              <a:spcAft>
                <a:spcPts val="700"/>
              </a:spcAft>
            </a:pPr>
            <a:r>
              <a:rPr sz="1350" b="0" i="0">
                <a:solidFill>
                  <a:srgbClr val="DE9535"/>
                </a:solidFill>
                <a:latin typeface="Segoe UI"/>
              </a:rPr>
              <a:t>•  </a:t>
            </a:r>
            <a:r>
              <a:rPr sz="1350" b="0" i="0">
                <a:solidFill>
                  <a:srgbClr val="ECECEC"/>
                </a:solidFill>
                <a:latin typeface="Segoe UI"/>
              </a:rPr>
              <a:t>Kukri Knife (2024)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5778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A8ADB8"/>
                </a:solidFill>
                <a:latin typeface="Segoe UI"/>
              </a:rPr>
              <a:t>Der Typ bestimmt den Preis mit: Karambit, Butterfly und M9 Bayonet sind wegen Optik und Zieh-Animationen am begehrtesten — Gut oder Navaja deutlich günstiger. Beim selben Finish liegen zwischen zwei Messertypen oft Faktor 3–5 im Preis.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9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ECECEC"/>
                </a:solidFill>
                <a:latin typeface="Segoe UI"/>
              </a:rPr>
              <a:t>Marktplätze: drei Grundmodelle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463040" cy="50292"/>
          </a:xfrm>
          <a:prstGeom prst="rect">
            <a:avLst/>
          </a:prstGeom>
          <a:solidFill>
            <a:srgbClr val="DE9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A8ADB8"/>
                </a:solidFill>
                <a:latin typeface="Segoe UI"/>
              </a:rPr>
              <a:t>CS2 Skin-Markt · Stand: August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ADB8"/>
                </a:solidFill>
                <a:latin typeface="Segoe UI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81328"/>
            <a:ext cx="3484778" cy="3931920"/>
          </a:xfrm>
          <a:prstGeom prst="roundRect">
            <a:avLst/>
          </a:prstGeom>
          <a:solidFill>
            <a:srgbClr val="222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645920"/>
            <a:ext cx="3082442" cy="3602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 i="0">
                <a:solidFill>
                  <a:srgbClr val="DE9535"/>
                </a:solidFill>
                <a:latin typeface="Segoe UI"/>
              </a:rPr>
              <a:t>Offiziell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 b="1" i="0">
                <a:solidFill>
                  <a:srgbClr val="DE9535"/>
                </a:solidFill>
                <a:latin typeface="Segoe UI"/>
              </a:rPr>
              <a:t>Steam Community Market</a:t>
            </a:r>
          </a:p>
          <a:p>
            <a:pPr marL="182880" indent="-182880">
              <a:spcAft>
                <a:spcPts val="700"/>
              </a:spcAft>
            </a:pPr>
            <a:r>
              <a:rPr sz="1350" b="0" i="0">
                <a:solidFill>
                  <a:srgbClr val="DE9535"/>
                </a:solidFill>
                <a:latin typeface="Segoe UI"/>
              </a:rPr>
              <a:t>•  </a:t>
            </a:r>
            <a:r>
              <a:rPr sz="1350" b="0" i="0">
                <a:solidFill>
                  <a:srgbClr val="ECECEC"/>
                </a:solidFill>
                <a:latin typeface="Segoe UI"/>
              </a:rPr>
              <a:t>Direkt in Steam integriert</a:t>
            </a:r>
          </a:p>
          <a:p>
            <a:pPr marL="182880" indent="-182880">
              <a:spcAft>
                <a:spcPts val="700"/>
              </a:spcAft>
            </a:pPr>
            <a:r>
              <a:rPr sz="1350" b="0" i="0">
                <a:solidFill>
                  <a:srgbClr val="DE9535"/>
                </a:solidFill>
                <a:latin typeface="Segoe UI"/>
              </a:rPr>
              <a:t>•  </a:t>
            </a:r>
            <a:r>
              <a:rPr sz="1350" b="0" i="0">
                <a:solidFill>
                  <a:srgbClr val="ECECEC"/>
                </a:solidFill>
                <a:latin typeface="Segoe UI"/>
              </a:rPr>
              <a:t>Maximale Sicherheit</a:t>
            </a:r>
          </a:p>
          <a:p>
            <a:pPr marL="182880" indent="-182880">
              <a:spcAft>
                <a:spcPts val="700"/>
              </a:spcAft>
            </a:pPr>
            <a:r>
              <a:rPr sz="1350" b="0" i="0">
                <a:solidFill>
                  <a:srgbClr val="DE9535"/>
                </a:solidFill>
                <a:latin typeface="Segoe UI"/>
              </a:rPr>
              <a:t>•  </a:t>
            </a:r>
            <a:r>
              <a:rPr sz="1350" b="0" i="0">
                <a:solidFill>
                  <a:srgbClr val="ECECEC"/>
                </a:solidFill>
                <a:latin typeface="Segoe UI"/>
              </a:rPr>
              <a:t>Geld bleibt im Steam-Guthaben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3458" y="1481328"/>
            <a:ext cx="3484778" cy="3931920"/>
          </a:xfrm>
          <a:prstGeom prst="roundRect">
            <a:avLst/>
          </a:prstGeom>
          <a:solidFill>
            <a:srgbClr val="222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54626" y="1645920"/>
            <a:ext cx="3082442" cy="3602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 i="0">
                <a:solidFill>
                  <a:srgbClr val="DE9535"/>
                </a:solidFill>
                <a:latin typeface="Segoe UI"/>
              </a:rPr>
              <a:t>P2P-Marktplätze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 b="1" i="0">
                <a:solidFill>
                  <a:srgbClr val="DE9535"/>
                </a:solidFill>
                <a:latin typeface="Segoe UI"/>
              </a:rPr>
              <a:t>CSFloat, Skinport, Buff163, SkinBaron</a:t>
            </a:r>
          </a:p>
          <a:p>
            <a:pPr marL="182880" indent="-182880">
              <a:spcAft>
                <a:spcPts val="700"/>
              </a:spcAft>
            </a:pPr>
            <a:r>
              <a:rPr sz="1350" b="0" i="0">
                <a:solidFill>
                  <a:srgbClr val="DE9535"/>
                </a:solidFill>
                <a:latin typeface="Segoe UI"/>
              </a:rPr>
              <a:t>•  </a:t>
            </a:r>
            <a:r>
              <a:rPr sz="1350" b="0" i="0">
                <a:solidFill>
                  <a:srgbClr val="ECECEC"/>
                </a:solidFill>
                <a:latin typeface="Segoe UI"/>
              </a:rPr>
              <a:t>Spieler verkauft an Spieler</a:t>
            </a:r>
          </a:p>
          <a:p>
            <a:pPr marL="182880" indent="-182880">
              <a:spcAft>
                <a:spcPts val="700"/>
              </a:spcAft>
            </a:pPr>
            <a:r>
              <a:rPr sz="1350" b="0" i="0">
                <a:solidFill>
                  <a:srgbClr val="DE9535"/>
                </a:solidFill>
                <a:latin typeface="Segoe UI"/>
              </a:rPr>
              <a:t>•  </a:t>
            </a:r>
            <a:r>
              <a:rPr sz="1350" b="0" i="0">
                <a:solidFill>
                  <a:srgbClr val="ECECEC"/>
                </a:solidFill>
                <a:latin typeface="Segoe UI"/>
              </a:rPr>
              <a:t>Plattform dient als Treuhand</a:t>
            </a:r>
          </a:p>
          <a:p>
            <a:pPr marL="182880" indent="-182880">
              <a:spcAft>
                <a:spcPts val="700"/>
              </a:spcAft>
            </a:pPr>
            <a:r>
              <a:rPr sz="1350" b="0" i="0">
                <a:solidFill>
                  <a:srgbClr val="DE9535"/>
                </a:solidFill>
                <a:latin typeface="Segoe UI"/>
              </a:rPr>
              <a:t>•  </a:t>
            </a:r>
            <a:r>
              <a:rPr sz="1350" b="0" i="0">
                <a:solidFill>
                  <a:srgbClr val="ECECEC"/>
                </a:solidFill>
                <a:latin typeface="Segoe UI"/>
              </a:rPr>
              <a:t>Auszahlung in echtes Geld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8276" y="1481328"/>
            <a:ext cx="3484778" cy="3931920"/>
          </a:xfrm>
          <a:prstGeom prst="roundRect">
            <a:avLst/>
          </a:prstGeom>
          <a:solidFill>
            <a:srgbClr val="222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59444" y="1645920"/>
            <a:ext cx="3082442" cy="3602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 i="0">
                <a:solidFill>
                  <a:srgbClr val="DE9535"/>
                </a:solidFill>
                <a:latin typeface="Segoe UI"/>
              </a:rPr>
              <a:t>Bot- / Instant-Trade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 b="1" i="0">
                <a:solidFill>
                  <a:srgbClr val="DE9535"/>
                </a:solidFill>
                <a:latin typeface="Segoe UI"/>
              </a:rPr>
              <a:t>CS.MONEY, SkinsMonkey, Tradeit.gg</a:t>
            </a:r>
          </a:p>
          <a:p>
            <a:pPr marL="182880" indent="-182880">
              <a:spcAft>
                <a:spcPts val="700"/>
              </a:spcAft>
            </a:pPr>
            <a:r>
              <a:rPr sz="1350" b="0" i="0">
                <a:solidFill>
                  <a:srgbClr val="DE9535"/>
                </a:solidFill>
                <a:latin typeface="Segoe UI"/>
              </a:rPr>
              <a:t>•  </a:t>
            </a:r>
            <a:r>
              <a:rPr sz="1350" b="0" i="0">
                <a:solidFill>
                  <a:srgbClr val="ECECEC"/>
                </a:solidFill>
                <a:latin typeface="Segoe UI"/>
              </a:rPr>
              <a:t>Sofortiger Tausch gegen Bot-Inventar</a:t>
            </a:r>
          </a:p>
          <a:p>
            <a:pPr marL="182880" indent="-182880">
              <a:spcAft>
                <a:spcPts val="700"/>
              </a:spcAft>
            </a:pPr>
            <a:r>
              <a:rPr sz="1350" b="0" i="0">
                <a:solidFill>
                  <a:srgbClr val="DE9535"/>
                </a:solidFill>
                <a:latin typeface="Segoe UI"/>
              </a:rPr>
              <a:t>•  </a:t>
            </a:r>
            <a:r>
              <a:rPr sz="1350" b="0" i="0">
                <a:solidFill>
                  <a:srgbClr val="ECECEC"/>
                </a:solidFill>
                <a:latin typeface="Segoe UI"/>
              </a:rPr>
              <a:t>Sehr bequem und schnell</a:t>
            </a:r>
          </a:p>
          <a:p>
            <a:pPr marL="182880" indent="-182880">
              <a:spcAft>
                <a:spcPts val="700"/>
              </a:spcAft>
            </a:pPr>
            <a:r>
              <a:rPr sz="1350" b="0" i="0">
                <a:solidFill>
                  <a:srgbClr val="DE9535"/>
                </a:solidFill>
                <a:latin typeface="Segoe UI"/>
              </a:rPr>
              <a:t>•  </a:t>
            </a:r>
            <a:r>
              <a:rPr sz="1350" b="0" i="0">
                <a:solidFill>
                  <a:srgbClr val="ECECEC"/>
                </a:solidFill>
                <a:latin typeface="Segoe UI"/>
              </a:rPr>
              <a:t>Dafür spürbare Preisaufschläge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5778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A8ADB8"/>
                </a:solidFill>
                <a:latin typeface="Segoe UI"/>
              </a:rPr>
              <a:t>„CS Monkey“ meint übrigens meist SkinsMonkey — vom Prinzip her dasselbe Modell wie CS.MONEY.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9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ECECEC"/>
                </a:solidFill>
                <a:latin typeface="Segoe UI"/>
              </a:rPr>
              <a:t>Steam Community Market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463040" cy="50292"/>
          </a:xfrm>
          <a:prstGeom prst="rect">
            <a:avLst/>
          </a:prstGeom>
          <a:solidFill>
            <a:srgbClr val="DE9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A8ADB8"/>
                </a:solidFill>
                <a:latin typeface="Segoe UI"/>
              </a:rPr>
              <a:t>CS2 Skin-Markt · Stand: August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ADB8"/>
                </a:solidFill>
                <a:latin typeface="Segoe U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94415" cy="4828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 i="0">
                <a:solidFill>
                  <a:srgbClr val="DE9535"/>
                </a:solidFill>
                <a:latin typeface="Segoe UI"/>
              </a:rPr>
              <a:t>Der offizielle Marktplatz — sicher, aber teuer</a:t>
            </a:r>
          </a:p>
          <a:p>
            <a:pPr marL="228600" indent="-228600">
              <a:spcAft>
                <a:spcPts val="900"/>
              </a:spcAft>
            </a:pPr>
            <a:r>
              <a:rPr sz="1600" b="1" i="0">
                <a:solidFill>
                  <a:srgbClr val="DE953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ECECEC"/>
                </a:solidFill>
                <a:latin typeface="Segoe UI"/>
              </a:rPr>
              <a:t>Pro: keine Scam-Gefahr, sofortige Abwicklung, größte Nutzerbasis und Liquidität</a:t>
            </a:r>
          </a:p>
          <a:p>
            <a:pPr marL="228600" indent="-228600">
              <a:spcAft>
                <a:spcPts val="900"/>
              </a:spcAft>
            </a:pPr>
            <a:r>
              <a:rPr sz="1600" b="1" i="0">
                <a:solidFill>
                  <a:srgbClr val="DE953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ECECEC"/>
                </a:solidFill>
                <a:latin typeface="Segoe UI"/>
              </a:rPr>
              <a:t>Pro: ideal für kleine Beträge und schnelle Käufe</a:t>
            </a:r>
          </a:p>
          <a:p>
            <a:pPr marL="228600" indent="-228600">
              <a:spcAft>
                <a:spcPts val="900"/>
              </a:spcAft>
            </a:pPr>
            <a:r>
              <a:rPr sz="1600" b="1" i="0">
                <a:solidFill>
                  <a:srgbClr val="DE953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ECECEC"/>
                </a:solidFill>
                <a:latin typeface="Segoe UI"/>
              </a:rPr>
              <a:t>Contra: ca. 15 % Gebühr (5 % Steam + 10 % CS2-Anteil)</a:t>
            </a:r>
          </a:p>
          <a:p>
            <a:pPr marL="228600" indent="-228600">
              <a:spcAft>
                <a:spcPts val="900"/>
              </a:spcAft>
            </a:pPr>
            <a:r>
              <a:rPr sz="1600" b="1" i="0">
                <a:solidFill>
                  <a:srgbClr val="DE953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ECECEC"/>
                </a:solidFill>
                <a:latin typeface="Segoe UI"/>
              </a:rPr>
              <a:t>Contra: Erlös bleibt als Steam-Guthaben gefangen — keine Auszahlung in echtes Geld</a:t>
            </a:r>
          </a:p>
          <a:p>
            <a:pPr marL="228600" indent="-228600">
              <a:spcAft>
                <a:spcPts val="900"/>
              </a:spcAft>
            </a:pPr>
            <a:r>
              <a:rPr sz="1600" b="1" i="0">
                <a:solidFill>
                  <a:srgbClr val="DE953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ECECEC"/>
                </a:solidFill>
                <a:latin typeface="Segoe UI"/>
              </a:rPr>
              <a:t>Contra: Preisobergrenze pro Listing — sehr teure Items laufen außerhalb von Steam</a:t>
            </a:r>
          </a:p>
          <a:p>
            <a:pPr marL="228600" indent="-228600">
              <a:spcAft>
                <a:spcPts val="900"/>
              </a:spcAft>
            </a:pPr>
            <a:r>
              <a:rPr sz="1600" b="1" i="0">
                <a:solidFill>
                  <a:srgbClr val="DE953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ECECEC"/>
                </a:solidFill>
                <a:latin typeface="Segoe UI"/>
              </a:rPr>
              <a:t>Fazit: gute Preis-Referenz und Einsteiger-Option, zum Verkaufen aber die teuerste Wahl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9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ECECEC"/>
                </a:solidFill>
                <a:latin typeface="Segoe UI"/>
              </a:rPr>
              <a:t>CSFloat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463040" cy="50292"/>
          </a:xfrm>
          <a:prstGeom prst="rect">
            <a:avLst/>
          </a:prstGeom>
          <a:solidFill>
            <a:srgbClr val="DE9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A8ADB8"/>
                </a:solidFill>
                <a:latin typeface="Segoe UI"/>
              </a:rPr>
              <a:t>CS2 Skin-Markt · Stand: August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ADB8"/>
                </a:solidFill>
                <a:latin typeface="Segoe U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94415" cy="4828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 i="0">
                <a:solidFill>
                  <a:srgbClr val="DE9535"/>
                </a:solidFill>
                <a:latin typeface="Segoe UI"/>
              </a:rPr>
              <a:t>P2P-Marktplatz mit Fokus auf Transparenz und niedrige Gebühren</a:t>
            </a:r>
          </a:p>
          <a:p>
            <a:pPr marL="228600" indent="-228600">
              <a:spcAft>
                <a:spcPts val="900"/>
              </a:spcAft>
            </a:pPr>
            <a:r>
              <a:rPr sz="1600" b="1" i="0">
                <a:solidFill>
                  <a:srgbClr val="DE953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ECECEC"/>
                </a:solidFill>
                <a:latin typeface="Segoe UI"/>
              </a:rPr>
              <a:t>Nur ca. 2 % Verkäufergebühr — aktuell die günstigste große Plattform</a:t>
            </a:r>
          </a:p>
          <a:p>
            <a:pPr marL="228600" indent="-228600">
              <a:spcAft>
                <a:spcPts val="900"/>
              </a:spcAft>
            </a:pPr>
            <a:r>
              <a:rPr sz="1600" b="1" i="0">
                <a:solidFill>
                  <a:srgbClr val="DE953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ECECEC"/>
                </a:solidFill>
                <a:latin typeface="Segoe UI"/>
              </a:rPr>
              <a:t>Bekannt durch den CSFloat-Checker: exakter Float, Pattern-Index und Screenshot zu jedem Item</a:t>
            </a:r>
          </a:p>
          <a:p>
            <a:pPr marL="228600" indent="-228600">
              <a:spcAft>
                <a:spcPts val="900"/>
              </a:spcAft>
            </a:pPr>
            <a:r>
              <a:rPr sz="1600" b="1" i="0">
                <a:solidFill>
                  <a:srgbClr val="DE953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ECECEC"/>
                </a:solidFill>
                <a:latin typeface="Segoe UI"/>
              </a:rPr>
              <a:t>Käufe laufen direkt von Spieler zu Spieler, die Plattform sichert als Treuhand ab</a:t>
            </a:r>
          </a:p>
          <a:p>
            <a:pPr marL="228600" indent="-228600">
              <a:spcAft>
                <a:spcPts val="900"/>
              </a:spcAft>
            </a:pPr>
            <a:r>
              <a:rPr sz="1600" b="1" i="0">
                <a:solidFill>
                  <a:srgbClr val="DE953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ECECEC"/>
                </a:solidFill>
                <a:latin typeface="Segoe UI"/>
              </a:rPr>
              <a:t>Auktionen, Preisverlauf, Kauf-Angebote und Auszahlung in echtes Geld</a:t>
            </a:r>
          </a:p>
          <a:p>
            <a:pPr marL="228600" indent="-228600">
              <a:spcAft>
                <a:spcPts val="900"/>
              </a:spcAft>
            </a:pPr>
            <a:r>
              <a:rPr sz="1600" b="1" i="0">
                <a:solidFill>
                  <a:srgbClr val="DE953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ECECEC"/>
                </a:solidFill>
                <a:latin typeface="Segoe UI"/>
              </a:rPr>
              <a:t>Nachteil: P2P heißt warten — der Verkäufer muss den Trade bestätigen, dazu Trade-Hold-Zeiten</a:t>
            </a:r>
          </a:p>
          <a:p>
            <a:pPr marL="228600" indent="-228600">
              <a:spcAft>
                <a:spcPts val="900"/>
              </a:spcAft>
            </a:pPr>
            <a:r>
              <a:rPr sz="1600" b="1" i="0">
                <a:solidFill>
                  <a:srgbClr val="DE953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ECECEC"/>
                </a:solidFill>
                <a:latin typeface="Segoe UI"/>
              </a:rPr>
              <a:t>Für wen? Preisbewusste Käufer und alle, die auf Float/Pattern jagen („Snipes“)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9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ECECEC"/>
                </a:solidFill>
                <a:latin typeface="Segoe UI"/>
              </a:rPr>
              <a:t>CS.MONEY &amp; SkinsMonkey (Bot-Trading)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463040" cy="50292"/>
          </a:xfrm>
          <a:prstGeom prst="rect">
            <a:avLst/>
          </a:prstGeom>
          <a:solidFill>
            <a:srgbClr val="DE9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A8ADB8"/>
                </a:solidFill>
                <a:latin typeface="Segoe UI"/>
              </a:rPr>
              <a:t>CS2 Skin-Markt · Stand: August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ADB8"/>
                </a:solidFill>
                <a:latin typeface="Segoe U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94415" cy="4828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 i="0">
                <a:solidFill>
                  <a:srgbClr val="DE9535"/>
                </a:solidFill>
                <a:latin typeface="Segoe UI"/>
              </a:rPr>
              <a:t>Tauschen statt Kaufen — Bequemlichkeit hat ihren Preis</a:t>
            </a:r>
          </a:p>
          <a:p>
            <a:pPr marL="228600" indent="-228600">
              <a:spcAft>
                <a:spcPts val="900"/>
              </a:spcAft>
            </a:pPr>
            <a:r>
              <a:rPr sz="1600" b="1" i="0">
                <a:solidFill>
                  <a:srgbClr val="DE953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ECECEC"/>
                </a:solidFill>
                <a:latin typeface="Segoe UI"/>
              </a:rPr>
              <a:t>Riesiges Bot-Inventar: eigene Skins einzahlen, sofort andere mitnehmen</a:t>
            </a:r>
          </a:p>
          <a:p>
            <a:pPr marL="228600" indent="-228600">
              <a:spcAft>
                <a:spcPts val="900"/>
              </a:spcAft>
            </a:pPr>
            <a:r>
              <a:rPr sz="1600" b="1" i="0">
                <a:solidFill>
                  <a:srgbClr val="DE953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ECECEC"/>
                </a:solidFill>
                <a:latin typeface="Segoe UI"/>
              </a:rPr>
              <a:t>Stärke: in wenigen Minuten vom alten zum neuen Skin, kein Warten auf Käufer</a:t>
            </a:r>
          </a:p>
          <a:p>
            <a:pPr marL="228600" indent="-228600">
              <a:spcAft>
                <a:spcPts val="900"/>
              </a:spcAft>
            </a:pPr>
            <a:r>
              <a:rPr sz="1600" b="1" i="0">
                <a:solidFill>
                  <a:srgbClr val="DE953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ECECEC"/>
                </a:solidFill>
                <a:latin typeface="Segoe UI"/>
              </a:rPr>
              <a:t>Schwäche: Kommissionen und Preisaufschläge — oft 5–15 % oder mehr über Marktpreis</a:t>
            </a:r>
          </a:p>
          <a:p>
            <a:pPr marL="228600" indent="-228600">
              <a:spcAft>
                <a:spcPts val="900"/>
              </a:spcAft>
            </a:pPr>
            <a:r>
              <a:rPr sz="1600" b="1" i="0">
                <a:solidFill>
                  <a:srgbClr val="DE953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ECECEC"/>
                </a:solidFill>
                <a:latin typeface="Segoe UI"/>
              </a:rPr>
              <a:t>Overpay-Logik: die eigenen Skins werden unter Marktwert angerechnet</a:t>
            </a:r>
          </a:p>
          <a:p>
            <a:pPr marL="228600" indent="-228600">
              <a:spcAft>
                <a:spcPts val="900"/>
              </a:spcAft>
            </a:pPr>
            <a:r>
              <a:rPr sz="1600" b="1" i="0">
                <a:solidFill>
                  <a:srgbClr val="DE953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ECECEC"/>
                </a:solidFill>
                <a:latin typeface="Segoe UI"/>
              </a:rPr>
              <a:t>SkinsMonkey („CS Monkey“) arbeitet nach demselben Prinzip</a:t>
            </a:r>
          </a:p>
          <a:p>
            <a:pPr marL="228600" indent="-228600">
              <a:spcAft>
                <a:spcPts val="900"/>
              </a:spcAft>
            </a:pPr>
            <a:r>
              <a:rPr sz="1600" b="1" i="0">
                <a:solidFill>
                  <a:srgbClr val="DE953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ECECEC"/>
                </a:solidFill>
                <a:latin typeface="Segoe UI"/>
              </a:rPr>
              <a:t>Fazit: gut für unkompliziertes Tauschen — schlecht, um den Maximalwert herauszuholen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9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ECECEC"/>
                </a:solidFill>
                <a:latin typeface="Segoe UI"/>
              </a:rPr>
              <a:t>Weitere Anbieter &amp; Preisvergleichs-Tools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463040" cy="50292"/>
          </a:xfrm>
          <a:prstGeom prst="rect">
            <a:avLst/>
          </a:prstGeom>
          <a:solidFill>
            <a:srgbClr val="DE9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A8ADB8"/>
                </a:solidFill>
                <a:latin typeface="Segoe UI"/>
              </a:rPr>
              <a:t>CS2 Skin-Markt · Stand: August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ADB8"/>
                </a:solidFill>
                <a:latin typeface="Segoe U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94415" cy="4828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900"/>
              </a:spcAft>
            </a:pPr>
            <a:r>
              <a:rPr sz="1600" b="1" i="0">
                <a:solidFill>
                  <a:srgbClr val="DE953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ECECEC"/>
                </a:solidFill>
                <a:latin typeface="Segoe UI"/>
              </a:rPr>
              <a:t>Skinport — EU-Marktplatz, ca. 6–12 % Gebühr, exzellenter Ruf (Trustpilot ~4,9), einfache Auszahlung</a:t>
            </a:r>
          </a:p>
          <a:p>
            <a:pPr marL="228600" indent="-228600">
              <a:spcAft>
                <a:spcPts val="900"/>
              </a:spcAft>
            </a:pPr>
            <a:r>
              <a:rPr sz="1600" b="1" i="0">
                <a:solidFill>
                  <a:srgbClr val="DE953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ECECEC"/>
                </a:solidFill>
                <a:latin typeface="Segoe UI"/>
              </a:rPr>
              <a:t>Buff163 — größter Marktplatz der Welt (NetEase, China), ca. 2,5 % Gebühr, globale Preisreferenz — Registrierung aus dem Westen aber umständlich</a:t>
            </a:r>
          </a:p>
          <a:p>
            <a:pPr marL="228600" indent="-228600">
              <a:spcAft>
                <a:spcPts val="900"/>
              </a:spcAft>
            </a:pPr>
            <a:r>
              <a:rPr sz="1600" b="1" i="0">
                <a:solidFill>
                  <a:srgbClr val="DE953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ECECEC"/>
                </a:solidFill>
                <a:latin typeface="Segoe UI"/>
              </a:rPr>
              <a:t>SkinBaron — deutscher Anbieter mit deutschem Support, PayPal und Sofortüberweisung</a:t>
            </a:r>
          </a:p>
          <a:p>
            <a:pPr marL="228600" indent="-228600">
              <a:spcAft>
                <a:spcPts val="900"/>
              </a:spcAft>
            </a:pPr>
            <a:r>
              <a:rPr sz="1600" b="1" i="0">
                <a:solidFill>
                  <a:srgbClr val="DE953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ECECEC"/>
                </a:solidFill>
                <a:latin typeface="Segoe UI"/>
              </a:rPr>
              <a:t>DMarket, Waxpeer, Tradeit.gg — weitere P2P- bzw. Instant-Trade-Alternativen</a:t>
            </a:r>
          </a:p>
          <a:p>
            <a:pPr>
              <a:spcAft>
                <a:spcPts val="1200"/>
              </a:spcAft>
            </a:pPr>
            <a:r>
              <a:rPr sz="1800" b="1" i="0">
                <a:solidFill>
                  <a:srgbClr val="DE9535"/>
                </a:solidFill>
                <a:latin typeface="Segoe UI"/>
              </a:rPr>
              <a:t>Vor jedem Kauf: Preise über alle Märkte vergleichen — mit Pricempire, SteamAnalyst oder CSMarketCap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9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ECECEC"/>
                </a:solidFill>
                <a:latin typeface="Segoe UI"/>
              </a:rPr>
              <a:t>Marktplatz-Vergleich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463040" cy="50292"/>
          </a:xfrm>
          <a:prstGeom prst="rect">
            <a:avLst/>
          </a:prstGeom>
          <a:solidFill>
            <a:srgbClr val="DE9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A8ADB8"/>
                </a:solidFill>
                <a:latin typeface="Segoe UI"/>
              </a:rPr>
              <a:t>CS2 Skin-Markt · Stand: August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ADB8"/>
                </a:solidFill>
                <a:latin typeface="Segoe UI"/>
              </a:rP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81328"/>
          <a:ext cx="11064240" cy="2484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A1C22"/>
                          </a:solidFill>
                          <a:latin typeface="Segoe UI"/>
                        </a:rPr>
                        <a:t>Anbieter</a:t>
                      </a:r>
                    </a:p>
                  </a:txBody>
                  <a:tcPr anchor="ctr">
                    <a:solidFill>
                      <a:srgbClr val="DE9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A1C22"/>
                          </a:solidFill>
                          <a:latin typeface="Segoe UI"/>
                        </a:rPr>
                        <a:t>Modell</a:t>
                      </a:r>
                    </a:p>
                  </a:txBody>
                  <a:tcPr anchor="ctr">
                    <a:solidFill>
                      <a:srgbClr val="DE9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A1C22"/>
                          </a:solidFill>
                          <a:latin typeface="Segoe UI"/>
                        </a:rPr>
                        <a:t>Verkäufergebühr</a:t>
                      </a:r>
                    </a:p>
                  </a:txBody>
                  <a:tcPr anchor="ctr">
                    <a:solidFill>
                      <a:srgbClr val="DE9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A1C22"/>
                          </a:solidFill>
                          <a:latin typeface="Segoe UI"/>
                        </a:rPr>
                        <a:t>Echtgeld-Auszahlung</a:t>
                      </a:r>
                    </a:p>
                  </a:txBody>
                  <a:tcPr anchor="ctr">
                    <a:solidFill>
                      <a:srgbClr val="DE9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A1C22"/>
                          </a:solidFill>
                          <a:latin typeface="Segoe UI"/>
                        </a:rPr>
                        <a:t>Geeignet für</a:t>
                      </a:r>
                    </a:p>
                  </a:txBody>
                  <a:tcPr anchor="ctr">
                    <a:solidFill>
                      <a:srgbClr val="DE9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ECECEC"/>
                          </a:solidFill>
                          <a:latin typeface="Segoe UI"/>
                        </a:rPr>
                        <a:t>Steam Market</a:t>
                      </a:r>
                    </a:p>
                  </a:txBody>
                  <a:tcPr anchor="ctr">
                    <a:solidFill>
                      <a:srgbClr val="2225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ECECEC"/>
                          </a:solidFill>
                          <a:latin typeface="Segoe UI"/>
                        </a:rPr>
                        <a:t>offiziell</a:t>
                      </a:r>
                    </a:p>
                  </a:txBody>
                  <a:tcPr anchor="ctr">
                    <a:solidFill>
                      <a:srgbClr val="2225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ECECEC"/>
                          </a:solidFill>
                          <a:latin typeface="Segoe UI"/>
                        </a:rPr>
                        <a:t>ca. 15 %</a:t>
                      </a:r>
                    </a:p>
                  </a:txBody>
                  <a:tcPr anchor="ctr">
                    <a:solidFill>
                      <a:srgbClr val="2225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ECECEC"/>
                          </a:solidFill>
                          <a:latin typeface="Segoe UI"/>
                        </a:rPr>
                        <a:t>✗ (Steam-Guthaben)</a:t>
                      </a:r>
                    </a:p>
                  </a:txBody>
                  <a:tcPr anchor="ctr">
                    <a:solidFill>
                      <a:srgbClr val="2225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ECECEC"/>
                          </a:solidFill>
                          <a:latin typeface="Segoe UI"/>
                        </a:rPr>
                        <a:t>Einsteiger, Kleinbeträge</a:t>
                      </a:r>
                    </a:p>
                  </a:txBody>
                  <a:tcPr anchor="ctr">
                    <a:solidFill>
                      <a:srgbClr val="2225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ECECEC"/>
                          </a:solidFill>
                          <a:latin typeface="Segoe UI"/>
                        </a:rPr>
                        <a:t>CSFloat</a:t>
                      </a:r>
                    </a:p>
                  </a:txBody>
                  <a:tcPr anchor="ctr">
                    <a:solidFill>
                      <a:srgbClr val="1C1F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ECECEC"/>
                          </a:solidFill>
                          <a:latin typeface="Segoe UI"/>
                        </a:rPr>
                        <a:t>P2P</a:t>
                      </a:r>
                    </a:p>
                  </a:txBody>
                  <a:tcPr anchor="ctr">
                    <a:solidFill>
                      <a:srgbClr val="1C1F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ECECEC"/>
                          </a:solidFill>
                          <a:latin typeface="Segoe UI"/>
                        </a:rPr>
                        <a:t>ca. 2 %</a:t>
                      </a:r>
                    </a:p>
                  </a:txBody>
                  <a:tcPr anchor="ctr">
                    <a:solidFill>
                      <a:srgbClr val="1C1F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ECECEC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1C1F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ECECEC"/>
                          </a:solidFill>
                          <a:latin typeface="Segoe UI"/>
                        </a:rPr>
                        <a:t>beste Preise, Float-Jagd</a:t>
                      </a:r>
                    </a:p>
                  </a:txBody>
                  <a:tcPr anchor="ctr">
                    <a:solidFill>
                      <a:srgbClr val="1C1F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ECECEC"/>
                          </a:solidFill>
                          <a:latin typeface="Segoe UI"/>
                        </a:rPr>
                        <a:t>Skinport</a:t>
                      </a:r>
                    </a:p>
                  </a:txBody>
                  <a:tcPr anchor="ctr">
                    <a:solidFill>
                      <a:srgbClr val="2225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ECECEC"/>
                          </a:solidFill>
                          <a:latin typeface="Segoe UI"/>
                        </a:rPr>
                        <a:t>Treuhand</a:t>
                      </a:r>
                    </a:p>
                  </a:txBody>
                  <a:tcPr anchor="ctr">
                    <a:solidFill>
                      <a:srgbClr val="2225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ECECEC"/>
                          </a:solidFill>
                          <a:latin typeface="Segoe UI"/>
                        </a:rPr>
                        <a:t>ca. 6–12 %</a:t>
                      </a:r>
                    </a:p>
                  </a:txBody>
                  <a:tcPr anchor="ctr">
                    <a:solidFill>
                      <a:srgbClr val="2225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ECECEC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2225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ECECEC"/>
                          </a:solidFill>
                          <a:latin typeface="Segoe UI"/>
                        </a:rPr>
                        <a:t>bequem &amp; seriös verkaufen</a:t>
                      </a:r>
                    </a:p>
                  </a:txBody>
                  <a:tcPr anchor="ctr">
                    <a:solidFill>
                      <a:srgbClr val="2225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ECECEC"/>
                          </a:solidFill>
                          <a:latin typeface="Segoe UI"/>
                        </a:rPr>
                        <a:t>Buff163</a:t>
                      </a:r>
                    </a:p>
                  </a:txBody>
                  <a:tcPr anchor="ctr">
                    <a:solidFill>
                      <a:srgbClr val="1C1F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ECECEC"/>
                          </a:solidFill>
                          <a:latin typeface="Segoe UI"/>
                        </a:rPr>
                        <a:t>P2P (China)</a:t>
                      </a:r>
                    </a:p>
                  </a:txBody>
                  <a:tcPr anchor="ctr">
                    <a:solidFill>
                      <a:srgbClr val="1C1F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ECECEC"/>
                          </a:solidFill>
                          <a:latin typeface="Segoe UI"/>
                        </a:rPr>
                        <a:t>ca. 2,5 %</a:t>
                      </a:r>
                    </a:p>
                  </a:txBody>
                  <a:tcPr anchor="ctr">
                    <a:solidFill>
                      <a:srgbClr val="1C1F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ECECEC"/>
                          </a:solidFill>
                          <a:latin typeface="Segoe UI"/>
                        </a:rPr>
                        <a:t>✓ (eingeschränkt)</a:t>
                      </a:r>
                    </a:p>
                  </a:txBody>
                  <a:tcPr anchor="ctr">
                    <a:solidFill>
                      <a:srgbClr val="1C1F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ECECEC"/>
                          </a:solidFill>
                          <a:latin typeface="Segoe UI"/>
                        </a:rPr>
                        <a:t>Preisreferenz, Volumen</a:t>
                      </a:r>
                    </a:p>
                  </a:txBody>
                  <a:tcPr anchor="ctr">
                    <a:solidFill>
                      <a:srgbClr val="1C1F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ECECEC"/>
                          </a:solidFill>
                          <a:latin typeface="Segoe UI"/>
                        </a:rPr>
                        <a:t>CS.MONEY /</a:t>
                      </a:r>
                    </a:p>
                    <a:p>
                      <a:r>
                        <a:rPr sz="1250" b="1" i="0">
                          <a:solidFill>
                            <a:srgbClr val="ECECEC"/>
                          </a:solidFill>
                          <a:latin typeface="Segoe UI"/>
                        </a:rPr>
                        <a:t>SkinsMonkey</a:t>
                      </a:r>
                    </a:p>
                  </a:txBody>
                  <a:tcPr anchor="ctr">
                    <a:solidFill>
                      <a:srgbClr val="2225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ECECEC"/>
                          </a:solidFill>
                          <a:latin typeface="Segoe UI"/>
                        </a:rPr>
                        <a:t>Bot-Trade</a:t>
                      </a:r>
                    </a:p>
                  </a:txBody>
                  <a:tcPr anchor="ctr">
                    <a:solidFill>
                      <a:srgbClr val="2225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ECECEC"/>
                          </a:solidFill>
                          <a:latin typeface="Segoe UI"/>
                        </a:rPr>
                        <a:t>Aufschlag statt Gebühr</a:t>
                      </a:r>
                    </a:p>
                  </a:txBody>
                  <a:tcPr anchor="ctr">
                    <a:solidFill>
                      <a:srgbClr val="2225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ECECEC"/>
                          </a:solidFill>
                          <a:latin typeface="Segoe UI"/>
                        </a:rPr>
                        <a:t>teils</a:t>
                      </a:r>
                    </a:p>
                  </a:txBody>
                  <a:tcPr anchor="ctr">
                    <a:solidFill>
                      <a:srgbClr val="2225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ECECEC"/>
                          </a:solidFill>
                          <a:latin typeface="Segoe UI"/>
                        </a:rPr>
                        <a:t>schnelles Tauschen</a:t>
                      </a:r>
                    </a:p>
                  </a:txBody>
                  <a:tcPr anchor="ctr">
                    <a:solidFill>
                      <a:srgbClr val="2225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453128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A8ADB8"/>
                </a:solidFill>
                <a:latin typeface="Segoe UI"/>
              </a:rPr>
              <a:t>Stand: August 2026 — Gebühren ändern sich regelmäßig, vor der Nutzung immer die aktuellen Konditionen prüfen.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9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ECECEC"/>
                </a:solidFill>
                <a:latin typeface="Segoe UI"/>
              </a:rPr>
              <a:t>Was macht den Preis eines Skins aus?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463040" cy="50292"/>
          </a:xfrm>
          <a:prstGeom prst="rect">
            <a:avLst/>
          </a:prstGeom>
          <a:solidFill>
            <a:srgbClr val="DE9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A8ADB8"/>
                </a:solidFill>
                <a:latin typeface="Segoe UI"/>
              </a:rPr>
              <a:t>CS2 Skin-Markt · Stand: August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ADB8"/>
                </a:solidFill>
                <a:latin typeface="Segoe UI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81328"/>
            <a:ext cx="5387187" cy="4572000"/>
          </a:xfrm>
          <a:prstGeom prst="roundRect">
            <a:avLst/>
          </a:prstGeom>
          <a:solidFill>
            <a:srgbClr val="222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645920"/>
            <a:ext cx="4984851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 i="0">
                <a:solidFill>
                  <a:srgbClr val="DE9535"/>
                </a:solidFill>
                <a:latin typeface="Segoe UI"/>
              </a:rPr>
              <a:t>Item-Faktoren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 b="1" i="0">
                <a:solidFill>
                  <a:srgbClr val="DE9535"/>
                </a:solidFill>
                <a:latin typeface="Segoe UI"/>
              </a:rPr>
              <a:t>Zustand</a:t>
            </a:r>
          </a:p>
          <a:p>
            <a:pPr marL="182880" indent="-182880">
              <a:spcAft>
                <a:spcPts val="700"/>
              </a:spcAft>
            </a:pPr>
            <a:r>
              <a:rPr sz="1350" b="0" i="0">
                <a:solidFill>
                  <a:srgbClr val="DE9535"/>
                </a:solidFill>
                <a:latin typeface="Segoe UI"/>
              </a:rPr>
              <a:t>•  </a:t>
            </a:r>
            <a:r>
              <a:rPr sz="1350" b="0" i="0">
                <a:solidFill>
                  <a:srgbClr val="ECECEC"/>
                </a:solidFill>
                <a:latin typeface="Segoe UI"/>
              </a:rPr>
              <a:t>Float-Wert und Wear-Stufe</a:t>
            </a:r>
          </a:p>
          <a:p>
            <a:pPr marL="182880" indent="-182880">
              <a:spcAft>
                <a:spcPts val="700"/>
              </a:spcAft>
            </a:pPr>
            <a:r>
              <a:rPr sz="1350" b="0" i="0">
                <a:solidFill>
                  <a:srgbClr val="DE9535"/>
                </a:solidFill>
                <a:latin typeface="Segoe UI"/>
              </a:rPr>
              <a:t>•  </a:t>
            </a:r>
            <a:r>
              <a:rPr sz="1350" b="0" i="0">
                <a:solidFill>
                  <a:srgbClr val="ECECEC"/>
                </a:solidFill>
                <a:latin typeface="Segoe UI"/>
              </a:rPr>
              <a:t>Pattern-Index (z. B. Blue Gem, Fade-Prozente)</a:t>
            </a:r>
          </a:p>
          <a:p>
            <a:pPr marL="182880" indent="-182880">
              <a:spcAft>
                <a:spcPts val="700"/>
              </a:spcAft>
            </a:pPr>
            <a:r>
              <a:rPr sz="1350" b="0" i="0">
                <a:solidFill>
                  <a:srgbClr val="DE9535"/>
                </a:solidFill>
                <a:latin typeface="Segoe UI"/>
              </a:rPr>
              <a:t>•  </a:t>
            </a:r>
            <a:r>
              <a:rPr sz="1350" b="0" i="0">
                <a:solidFill>
                  <a:srgbClr val="ECECEC"/>
                </a:solidFill>
                <a:latin typeface="Segoe UI"/>
              </a:rPr>
              <a:t>StatTrak™ und Souvenir-Varianten</a:t>
            </a:r>
          </a:p>
          <a:p>
            <a:pPr marL="182880" indent="-182880">
              <a:spcAft>
                <a:spcPts val="700"/>
              </a:spcAft>
            </a:pPr>
            <a:r>
              <a:rPr sz="1350" b="0" i="0">
                <a:solidFill>
                  <a:srgbClr val="DE9535"/>
                </a:solidFill>
                <a:latin typeface="Segoe UI"/>
              </a:rPr>
              <a:t>•  </a:t>
            </a:r>
            <a:r>
              <a:rPr sz="1350" b="0" i="0">
                <a:solidFill>
                  <a:srgbClr val="ECECEC"/>
                </a:solidFill>
                <a:latin typeface="Segoe UI"/>
              </a:rPr>
              <a:t>Aufgeklebte Sticker (alte Major-Sticker können den Wert vervielfachen)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 b="1" i="0">
                <a:solidFill>
                  <a:srgbClr val="DE9535"/>
                </a:solidFill>
                <a:latin typeface="Segoe UI"/>
              </a:rPr>
              <a:t>Beliebtheit</a:t>
            </a:r>
          </a:p>
          <a:p>
            <a:pPr marL="182880" indent="-182880">
              <a:spcAft>
                <a:spcPts val="700"/>
              </a:spcAft>
            </a:pPr>
            <a:r>
              <a:rPr sz="1350" b="0" i="0">
                <a:solidFill>
                  <a:srgbClr val="DE9535"/>
                </a:solidFill>
                <a:latin typeface="Segoe UI"/>
              </a:rPr>
              <a:t>•  </a:t>
            </a:r>
            <a:r>
              <a:rPr sz="1350" b="0" i="0">
                <a:solidFill>
                  <a:srgbClr val="ECECEC"/>
                </a:solidFill>
                <a:latin typeface="Segoe UI"/>
              </a:rPr>
              <a:t>Waffe selbst: AK-47, AWP und Messer sind am gefragtesten</a:t>
            </a:r>
          </a:p>
          <a:p>
            <a:pPr marL="182880" indent="-182880">
              <a:spcAft>
                <a:spcPts val="700"/>
              </a:spcAft>
            </a:pPr>
            <a:r>
              <a:rPr sz="1350" b="0" i="0">
                <a:solidFill>
                  <a:srgbClr val="DE9535"/>
                </a:solidFill>
                <a:latin typeface="Segoe UI"/>
              </a:rPr>
              <a:t>•  </a:t>
            </a:r>
            <a:r>
              <a:rPr sz="1350" b="0" i="0">
                <a:solidFill>
                  <a:srgbClr val="ECECEC"/>
                </a:solidFill>
                <a:latin typeface="Segoe UI"/>
              </a:rPr>
              <a:t>Design: ikonische Finishes halten den Wert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55867" y="1481328"/>
            <a:ext cx="5387187" cy="4572000"/>
          </a:xfrm>
          <a:prstGeom prst="roundRect">
            <a:avLst/>
          </a:prstGeom>
          <a:solidFill>
            <a:srgbClr val="222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57035" y="1645920"/>
            <a:ext cx="4984851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 i="0">
                <a:solidFill>
                  <a:srgbClr val="DE9535"/>
                </a:solidFill>
                <a:latin typeface="Segoe UI"/>
              </a:rPr>
              <a:t>Markt-Faktoren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 b="1" i="0">
                <a:solidFill>
                  <a:srgbClr val="DE9535"/>
                </a:solidFill>
                <a:latin typeface="Segoe UI"/>
              </a:rPr>
              <a:t>Angebot</a:t>
            </a:r>
          </a:p>
          <a:p>
            <a:pPr marL="182880" indent="-182880">
              <a:spcAft>
                <a:spcPts val="700"/>
              </a:spcAft>
            </a:pPr>
            <a:r>
              <a:rPr sz="1350" b="0" i="0">
                <a:solidFill>
                  <a:srgbClr val="DE9535"/>
                </a:solidFill>
                <a:latin typeface="Segoe UI"/>
              </a:rPr>
              <a:t>•  </a:t>
            </a:r>
            <a:r>
              <a:rPr sz="1350" b="0" i="0">
                <a:solidFill>
                  <a:srgbClr val="ECECEC"/>
                </a:solidFill>
                <a:latin typeface="Segoe UI"/>
              </a:rPr>
              <a:t>Aktive Kiste (Nachschub wächst) vs. „discontinued“ (Angebot fix)</a:t>
            </a:r>
          </a:p>
          <a:p>
            <a:pPr marL="182880" indent="-182880">
              <a:spcAft>
                <a:spcPts val="700"/>
              </a:spcAft>
            </a:pPr>
            <a:r>
              <a:rPr sz="1350" b="0" i="0">
                <a:solidFill>
                  <a:srgbClr val="DE9535"/>
                </a:solidFill>
                <a:latin typeface="Segoe UI"/>
              </a:rPr>
              <a:t>•  </a:t>
            </a:r>
            <a:r>
              <a:rPr sz="1350" b="0" i="0">
                <a:solidFill>
                  <a:srgbClr val="ECECEC"/>
                </a:solidFill>
                <a:latin typeface="Segoe UI"/>
              </a:rPr>
              <a:t>Wie viele Exemplare existieren überhaupt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 b="1" i="0">
                <a:solidFill>
                  <a:srgbClr val="DE9535"/>
                </a:solidFill>
                <a:latin typeface="Segoe UI"/>
              </a:rPr>
              <a:t>Nachfrage &amp; Umfeld</a:t>
            </a:r>
          </a:p>
          <a:p>
            <a:pPr marL="182880" indent="-182880">
              <a:spcAft>
                <a:spcPts val="700"/>
              </a:spcAft>
            </a:pPr>
            <a:r>
              <a:rPr sz="1350" b="0" i="0">
                <a:solidFill>
                  <a:srgbClr val="DE9535"/>
                </a:solidFill>
                <a:latin typeface="Segoe UI"/>
              </a:rPr>
              <a:t>•  </a:t>
            </a:r>
            <a:r>
              <a:rPr sz="1350" b="0" i="0">
                <a:solidFill>
                  <a:srgbClr val="ECECEC"/>
                </a:solidFill>
                <a:latin typeface="Segoe UI"/>
              </a:rPr>
              <a:t>Spielerzahlen, Valve-Updates, Operations</a:t>
            </a:r>
          </a:p>
          <a:p>
            <a:pPr marL="182880" indent="-182880">
              <a:spcAft>
                <a:spcPts val="700"/>
              </a:spcAft>
            </a:pPr>
            <a:r>
              <a:rPr sz="1350" b="0" i="0">
                <a:solidFill>
                  <a:srgbClr val="DE9535"/>
                </a:solidFill>
                <a:latin typeface="Segoe UI"/>
              </a:rPr>
              <a:t>•  </a:t>
            </a:r>
            <a:r>
              <a:rPr sz="1350" b="0" i="0">
                <a:solidFill>
                  <a:srgbClr val="ECECEC"/>
                </a:solidFill>
                <a:latin typeface="Segoe UI"/>
              </a:rPr>
              <a:t>Pro-Player, Streamer, Trends und Memes</a:t>
            </a:r>
          </a:p>
          <a:p>
            <a:pPr marL="182880" indent="-182880">
              <a:spcAft>
                <a:spcPts val="700"/>
              </a:spcAft>
            </a:pPr>
            <a:r>
              <a:rPr sz="1350" b="0" i="0">
                <a:solidFill>
                  <a:srgbClr val="DE9535"/>
                </a:solidFill>
                <a:latin typeface="Segoe UI"/>
              </a:rPr>
              <a:t>•  </a:t>
            </a:r>
            <a:r>
              <a:rPr sz="1350" b="0" i="0">
                <a:solidFill>
                  <a:srgbClr val="ECECEC"/>
                </a:solidFill>
                <a:latin typeface="Segoe UI"/>
              </a:rPr>
              <a:t>China-Markt (Buff-Preise) und allgemeine Marktstimmung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9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ECECEC"/>
                </a:solidFill>
                <a:latin typeface="Segoe UI"/>
              </a:rPr>
              <a:t>Warum steigen manche Skins im Preis?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463040" cy="50292"/>
          </a:xfrm>
          <a:prstGeom prst="rect">
            <a:avLst/>
          </a:prstGeom>
          <a:solidFill>
            <a:srgbClr val="DE9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A8ADB8"/>
                </a:solidFill>
                <a:latin typeface="Segoe UI"/>
              </a:rPr>
              <a:t>CS2 Skin-Markt · Stand: August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ADB8"/>
                </a:solidFill>
                <a:latin typeface="Segoe U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94415" cy="4828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 i="0">
                <a:solidFill>
                  <a:srgbClr val="DE9535"/>
                </a:solidFill>
                <a:latin typeface="Segoe UI"/>
              </a:rPr>
              <a:t>Kern-Mechanik: Das Angebot vieler Items ist fix — oder sinkt sogar</a:t>
            </a:r>
          </a:p>
          <a:p>
            <a:pPr marL="228600" indent="-228600">
              <a:spcAft>
                <a:spcPts val="900"/>
              </a:spcAft>
            </a:pPr>
            <a:r>
              <a:rPr sz="1600" b="1" i="0">
                <a:solidFill>
                  <a:srgbClr val="DE953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ECECEC"/>
                </a:solidFill>
                <a:latin typeface="Segoe UI"/>
              </a:rPr>
              <a:t>Kisten werden aus dem Drop-Pool genommen („discontinued“) → der Nachschub versiegt</a:t>
            </a:r>
          </a:p>
          <a:p>
            <a:pPr marL="228600" indent="-228600">
              <a:spcAft>
                <a:spcPts val="900"/>
              </a:spcAft>
            </a:pPr>
            <a:r>
              <a:rPr sz="1600" b="1" i="0">
                <a:solidFill>
                  <a:srgbClr val="DE953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ECECEC"/>
                </a:solidFill>
                <a:latin typeface="Segoe UI"/>
              </a:rPr>
              <a:t>Skins verschwinden dauerhaft: Trade-Up-Verträge, gesperrte und inaktive Accounts</a:t>
            </a:r>
          </a:p>
          <a:p>
            <a:pPr marL="228600" indent="-228600">
              <a:spcAft>
                <a:spcPts val="900"/>
              </a:spcAft>
            </a:pPr>
            <a:r>
              <a:rPr sz="1600" b="1" i="0">
                <a:solidFill>
                  <a:srgbClr val="DE953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ECECEC"/>
                </a:solidFill>
                <a:latin typeface="Segoe UI"/>
              </a:rPr>
              <a:t>Operation-Kisten gab es nur wenige Monate — ihr Angebot ist für immer begrenzt</a:t>
            </a:r>
          </a:p>
          <a:p>
            <a:pPr marL="228600" indent="-228600">
              <a:spcAft>
                <a:spcPts val="900"/>
              </a:spcAft>
            </a:pPr>
            <a:r>
              <a:rPr sz="1600" b="1" i="0">
                <a:solidFill>
                  <a:srgbClr val="DE953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ECECEC"/>
                </a:solidFill>
                <a:latin typeface="Segoe UI"/>
              </a:rPr>
              <a:t>Gleichzeitig wächst die Nachfrage: CS2-Spielerzahlen auf Rekordniveau</a:t>
            </a:r>
          </a:p>
          <a:p>
            <a:pPr marL="228600" indent="-228600">
              <a:spcAft>
                <a:spcPts val="900"/>
              </a:spcAft>
            </a:pPr>
            <a:r>
              <a:rPr sz="1600" b="1" i="0">
                <a:solidFill>
                  <a:srgbClr val="DE953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ECECEC"/>
                </a:solidFill>
                <a:latin typeface="Segoe UI"/>
              </a:rPr>
              <a:t>Klassiker-Effekt: alte, bekannte Finishes und Messer werden zu Sammlerstücken</a:t>
            </a:r>
          </a:p>
          <a:p>
            <a:pPr marL="228600" indent="-228600">
              <a:spcAft>
                <a:spcPts val="900"/>
              </a:spcAft>
            </a:pPr>
            <a:r>
              <a:rPr sz="1600" b="1" i="0">
                <a:solidFill>
                  <a:srgbClr val="DE953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ECECEC"/>
                </a:solidFill>
                <a:latin typeface="Segoe UI"/>
              </a:rPr>
              <a:t>Aber kein Selbstläufer: neue Kisten drücken Preise ähnlicher Skins, Valve-Entscheidungen können den Markt crashen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9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ECECEC"/>
                </a:solidFill>
                <a:latin typeface="Segoe UI"/>
              </a:rPr>
              <a:t>Fallbeispiel: Huntsman Knife | Lore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463040" cy="50292"/>
          </a:xfrm>
          <a:prstGeom prst="rect">
            <a:avLst/>
          </a:prstGeom>
          <a:solidFill>
            <a:srgbClr val="DE9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A8ADB8"/>
                </a:solidFill>
                <a:latin typeface="Segoe UI"/>
              </a:rPr>
              <a:t>CS2 Skin-Markt · Stand: August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ADB8"/>
                </a:solidFill>
                <a:latin typeface="Segoe U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39" y="1481328"/>
            <a:ext cx="11094415" cy="2577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 i="0" err="1">
                <a:solidFill>
                  <a:srgbClr val="DE9535"/>
                </a:solidFill>
                <a:latin typeface="Segoe UI"/>
              </a:rPr>
              <a:t>Warum</a:t>
            </a:r>
            <a:r>
              <a:rPr sz="1800" b="1" i="0">
                <a:solidFill>
                  <a:srgbClr val="DE9535"/>
                </a:solidFill>
                <a:latin typeface="Segoe UI"/>
              </a:rPr>
              <a:t> gilt </a:t>
            </a:r>
            <a:r>
              <a:rPr sz="1800" b="1" i="0" err="1">
                <a:solidFill>
                  <a:srgbClr val="DE9535"/>
                </a:solidFill>
                <a:latin typeface="Segoe UI"/>
              </a:rPr>
              <a:t>gerade</a:t>
            </a:r>
            <a:r>
              <a:rPr sz="1800" b="1" i="0">
                <a:solidFill>
                  <a:srgbClr val="DE9535"/>
                </a:solidFill>
                <a:latin typeface="Segoe UI"/>
              </a:rPr>
              <a:t> dieses Messer </a:t>
            </a:r>
            <a:r>
              <a:rPr sz="1800" b="1" i="0" err="1">
                <a:solidFill>
                  <a:srgbClr val="DE9535"/>
                </a:solidFill>
                <a:latin typeface="Segoe UI"/>
              </a:rPr>
              <a:t>als</a:t>
            </a:r>
            <a:r>
              <a:rPr sz="1800" b="1" i="0">
                <a:solidFill>
                  <a:srgbClr val="DE9535"/>
                </a:solidFill>
                <a:latin typeface="Segoe UI"/>
              </a:rPr>
              <a:t> </a:t>
            </a:r>
            <a:r>
              <a:rPr sz="1800" b="1" i="0" err="1">
                <a:solidFill>
                  <a:srgbClr val="DE9535"/>
                </a:solidFill>
                <a:latin typeface="Segoe UI"/>
              </a:rPr>
              <a:t>vergleichsweise</a:t>
            </a:r>
            <a:r>
              <a:rPr sz="1800" b="1" i="0">
                <a:solidFill>
                  <a:srgbClr val="DE9535"/>
                </a:solidFill>
                <a:latin typeface="Segoe UI"/>
              </a:rPr>
              <a:t> </a:t>
            </a:r>
            <a:r>
              <a:rPr sz="1800" b="1" i="0" err="1">
                <a:solidFill>
                  <a:srgbClr val="DE9535"/>
                </a:solidFill>
                <a:latin typeface="Segoe UI"/>
              </a:rPr>
              <a:t>wertstabil</a:t>
            </a:r>
            <a:r>
              <a:rPr sz="1800" b="1" i="0">
                <a:solidFill>
                  <a:srgbClr val="DE9535"/>
                </a:solidFill>
                <a:latin typeface="Segoe UI"/>
              </a:rPr>
              <a:t>?</a:t>
            </a:r>
          </a:p>
          <a:p>
            <a:pPr marL="228600" indent="-228600">
              <a:spcAft>
                <a:spcPts val="900"/>
              </a:spcAft>
            </a:pPr>
            <a:r>
              <a:rPr sz="1600" b="1" i="0">
                <a:solidFill>
                  <a:srgbClr val="DE953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ECECEC"/>
                </a:solidFill>
                <a:latin typeface="Segoe UI"/>
              </a:rPr>
              <a:t>Finish „Lore“: </a:t>
            </a:r>
            <a:r>
              <a:rPr sz="1600" b="0" i="0" err="1">
                <a:solidFill>
                  <a:srgbClr val="ECECEC"/>
                </a:solidFill>
                <a:latin typeface="Segoe UI"/>
              </a:rPr>
              <a:t>dunkelgrünes</a:t>
            </a:r>
            <a:r>
              <a:rPr sz="1600" b="0" i="0">
                <a:solidFill>
                  <a:srgbClr val="ECECEC"/>
                </a:solidFill>
                <a:latin typeface="Segoe UI"/>
              </a:rPr>
              <a:t> Design </a:t>
            </a:r>
            <a:r>
              <a:rPr sz="1600" b="0" i="0" err="1">
                <a:solidFill>
                  <a:srgbClr val="ECECEC"/>
                </a:solidFill>
                <a:latin typeface="Segoe UI"/>
              </a:rPr>
              <a:t>mit</a:t>
            </a:r>
            <a:r>
              <a:rPr sz="1600" b="0" i="0">
                <a:solidFill>
                  <a:srgbClr val="ECECEC"/>
                </a:solidFill>
                <a:latin typeface="Segoe UI"/>
              </a:rPr>
              <a:t> </a:t>
            </a:r>
            <a:r>
              <a:rPr sz="1600" b="0" i="0" err="1">
                <a:solidFill>
                  <a:srgbClr val="ECECEC"/>
                </a:solidFill>
                <a:latin typeface="Segoe UI"/>
              </a:rPr>
              <a:t>goldenem</a:t>
            </a:r>
            <a:r>
              <a:rPr sz="1600" b="0" i="0">
                <a:solidFill>
                  <a:srgbClr val="ECECEC"/>
                </a:solidFill>
                <a:latin typeface="Segoe UI"/>
              </a:rPr>
              <a:t> Ornament-Muster — </a:t>
            </a:r>
            <a:r>
              <a:rPr sz="1600" b="0" i="0" err="1">
                <a:solidFill>
                  <a:srgbClr val="ECECEC"/>
                </a:solidFill>
                <a:latin typeface="Segoe UI"/>
              </a:rPr>
              <a:t>beliebt</a:t>
            </a:r>
            <a:r>
              <a:rPr sz="1600" b="0" i="0">
                <a:solidFill>
                  <a:srgbClr val="ECECEC"/>
                </a:solidFill>
                <a:latin typeface="Segoe UI"/>
              </a:rPr>
              <a:t> und </a:t>
            </a:r>
            <a:r>
              <a:rPr sz="1600" b="0" i="0" err="1">
                <a:solidFill>
                  <a:srgbClr val="ECECEC"/>
                </a:solidFill>
                <a:latin typeface="Segoe UI"/>
              </a:rPr>
              <a:t>zeitlos</a:t>
            </a:r>
            <a:endParaRPr sz="1600" b="0" i="0">
              <a:solidFill>
                <a:srgbClr val="ECECEC"/>
              </a:solidFill>
              <a:latin typeface="Segoe UI"/>
            </a:endParaRPr>
          </a:p>
          <a:p>
            <a:pPr marL="228600" indent="-228600">
              <a:spcAft>
                <a:spcPts val="900"/>
              </a:spcAft>
            </a:pPr>
            <a:r>
              <a:rPr sz="1600" b="1" i="0">
                <a:solidFill>
                  <a:srgbClr val="DE9535"/>
                </a:solidFill>
                <a:latin typeface="Segoe UI"/>
              </a:rPr>
              <a:t>•  </a:t>
            </a:r>
            <a:r>
              <a:rPr sz="1600" b="0" i="0" err="1">
                <a:solidFill>
                  <a:srgbClr val="ECECEC"/>
                </a:solidFill>
                <a:latin typeface="Segoe UI"/>
              </a:rPr>
              <a:t>Herkunft</a:t>
            </a:r>
            <a:r>
              <a:rPr sz="1600" b="0" i="0">
                <a:solidFill>
                  <a:srgbClr val="ECECEC"/>
                </a:solidFill>
                <a:latin typeface="Segoe UI"/>
              </a:rPr>
              <a:t>: </a:t>
            </a:r>
            <a:r>
              <a:rPr sz="1600" b="0" i="0" err="1">
                <a:solidFill>
                  <a:srgbClr val="ECECEC"/>
                </a:solidFill>
                <a:latin typeface="Segoe UI"/>
              </a:rPr>
              <a:t>ausschließlich</a:t>
            </a:r>
            <a:r>
              <a:rPr sz="1600" b="0" i="0">
                <a:solidFill>
                  <a:srgbClr val="ECECEC"/>
                </a:solidFill>
                <a:latin typeface="Segoe UI"/>
              </a:rPr>
              <a:t> </a:t>
            </a:r>
            <a:r>
              <a:rPr sz="1600" b="0" i="0" err="1">
                <a:solidFill>
                  <a:srgbClr val="ECECEC"/>
                </a:solidFill>
                <a:latin typeface="Segoe UI"/>
              </a:rPr>
              <a:t>aus</a:t>
            </a:r>
            <a:r>
              <a:rPr sz="1600" b="0" i="0">
                <a:solidFill>
                  <a:srgbClr val="ECECEC"/>
                </a:solidFill>
                <a:latin typeface="Segoe UI"/>
              </a:rPr>
              <a:t> der Operation Hydra Case (Mai–November 2017)</a:t>
            </a:r>
          </a:p>
          <a:p>
            <a:pPr marL="228600" indent="-228600">
              <a:spcAft>
                <a:spcPts val="900"/>
              </a:spcAft>
            </a:pPr>
            <a:r>
              <a:rPr sz="1600" b="1" i="0">
                <a:solidFill>
                  <a:srgbClr val="DE953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ECECEC"/>
                </a:solidFill>
                <a:latin typeface="Segoe UI"/>
              </a:rPr>
              <a:t>Die Kiste </a:t>
            </a:r>
            <a:r>
              <a:rPr sz="1600" b="0" i="0" err="1">
                <a:solidFill>
                  <a:srgbClr val="ECECEC"/>
                </a:solidFill>
                <a:latin typeface="Segoe UI"/>
              </a:rPr>
              <a:t>droppte</a:t>
            </a:r>
            <a:r>
              <a:rPr sz="1600" b="0" i="0">
                <a:solidFill>
                  <a:srgbClr val="ECECEC"/>
                </a:solidFill>
                <a:latin typeface="Segoe UI"/>
              </a:rPr>
              <a:t> </a:t>
            </a:r>
            <a:r>
              <a:rPr sz="1600" b="0" i="0" err="1">
                <a:solidFill>
                  <a:srgbClr val="ECECEC"/>
                </a:solidFill>
                <a:latin typeface="Segoe UI"/>
              </a:rPr>
              <a:t>nur</a:t>
            </a:r>
            <a:r>
              <a:rPr sz="1600" b="0" i="0">
                <a:solidFill>
                  <a:srgbClr val="ECECEC"/>
                </a:solidFill>
                <a:latin typeface="Segoe UI"/>
              </a:rPr>
              <a:t> für Operation-Pass-</a:t>
            </a:r>
            <a:r>
              <a:rPr sz="1600" b="0" i="0" err="1">
                <a:solidFill>
                  <a:srgbClr val="ECECEC"/>
                </a:solidFill>
                <a:latin typeface="Segoe UI"/>
              </a:rPr>
              <a:t>Besitzer</a:t>
            </a:r>
            <a:r>
              <a:rPr sz="1600" b="0" i="0">
                <a:solidFill>
                  <a:srgbClr val="ECECEC"/>
                </a:solidFill>
                <a:latin typeface="Segoe UI"/>
              </a:rPr>
              <a:t> → das </a:t>
            </a:r>
            <a:r>
              <a:rPr sz="1600" b="0" i="0" err="1">
                <a:solidFill>
                  <a:srgbClr val="ECECEC"/>
                </a:solidFill>
                <a:latin typeface="Segoe UI"/>
              </a:rPr>
              <a:t>Angebot</a:t>
            </a:r>
            <a:r>
              <a:rPr sz="1600" b="0" i="0">
                <a:solidFill>
                  <a:srgbClr val="ECECEC"/>
                </a:solidFill>
                <a:latin typeface="Segoe UI"/>
              </a:rPr>
              <a:t> </a:t>
            </a:r>
            <a:r>
              <a:rPr sz="1600" b="0" i="0" err="1">
                <a:solidFill>
                  <a:srgbClr val="ECECEC"/>
                </a:solidFill>
                <a:latin typeface="Segoe UI"/>
              </a:rPr>
              <a:t>ist</a:t>
            </a:r>
            <a:r>
              <a:rPr sz="1600" b="0" i="0">
                <a:solidFill>
                  <a:srgbClr val="ECECEC"/>
                </a:solidFill>
                <a:latin typeface="Segoe UI"/>
              </a:rPr>
              <a:t> fix</a:t>
            </a:r>
            <a:endParaRPr lang="de-DE" sz="1600" b="0" i="0">
              <a:solidFill>
                <a:srgbClr val="ECECEC"/>
              </a:solidFill>
              <a:latin typeface="Segoe UI"/>
            </a:endParaRPr>
          </a:p>
          <a:p>
            <a:pPr marL="228600" indent="-228600">
              <a:spcAft>
                <a:spcPts val="900"/>
              </a:spcAft>
            </a:pPr>
            <a:r>
              <a:rPr lang="de-DE" sz="1600" b="1" i="0">
                <a:solidFill>
                  <a:srgbClr val="DE9535"/>
                </a:solidFill>
                <a:latin typeface="Segoe UI"/>
              </a:rPr>
              <a:t>•  </a:t>
            </a:r>
            <a:r>
              <a:rPr lang="de-DE" sz="1600" b="0" i="0">
                <a:solidFill>
                  <a:srgbClr val="ECECEC"/>
                </a:solidFill>
                <a:latin typeface="Segoe UI"/>
              </a:rPr>
              <a:t>Preisniveau: grob 100–300 € je nach </a:t>
            </a:r>
            <a:r>
              <a:rPr lang="de-DE" sz="1600" b="0" i="0" err="1">
                <a:solidFill>
                  <a:srgbClr val="ECECEC"/>
                </a:solidFill>
                <a:latin typeface="Segoe UI"/>
              </a:rPr>
              <a:t>Float</a:t>
            </a:r>
            <a:r>
              <a:rPr lang="de-DE" sz="1600" b="0" i="0">
                <a:solidFill>
                  <a:srgbClr val="ECECEC"/>
                </a:solidFill>
                <a:latin typeface="Segoe UI"/>
              </a:rPr>
              <a:t> und Marktplatz (Stand: August 2026)</a:t>
            </a:r>
          </a:p>
          <a:p>
            <a:pPr marL="228600" indent="-228600">
              <a:spcAft>
                <a:spcPts val="900"/>
              </a:spcAft>
            </a:pPr>
            <a:r>
              <a:rPr sz="1600" b="1" i="0">
                <a:solidFill>
                  <a:srgbClr val="DE953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ECECEC"/>
                </a:solidFill>
                <a:latin typeface="Segoe UI"/>
              </a:rPr>
              <a:t>„Lore“-Prestige </a:t>
            </a:r>
            <a:r>
              <a:rPr sz="1600" b="0" i="0" err="1">
                <a:solidFill>
                  <a:srgbClr val="ECECEC"/>
                </a:solidFill>
                <a:latin typeface="Segoe UI"/>
              </a:rPr>
              <a:t>vom</a:t>
            </a:r>
            <a:r>
              <a:rPr sz="1600" b="0" i="0">
                <a:solidFill>
                  <a:srgbClr val="ECECEC"/>
                </a:solidFill>
                <a:latin typeface="Segoe UI"/>
              </a:rPr>
              <a:t> </a:t>
            </a:r>
            <a:r>
              <a:rPr sz="1600" b="0" i="0" err="1">
                <a:solidFill>
                  <a:srgbClr val="ECECEC"/>
                </a:solidFill>
                <a:latin typeface="Segoe UI"/>
              </a:rPr>
              <a:t>teuren</a:t>
            </a:r>
            <a:r>
              <a:rPr sz="1600" b="0" i="0">
                <a:solidFill>
                  <a:srgbClr val="ECECEC"/>
                </a:solidFill>
                <a:latin typeface="Segoe UI"/>
              </a:rPr>
              <a:t> M9/</a:t>
            </a:r>
            <a:r>
              <a:rPr sz="1600" b="0" i="0" err="1">
                <a:solidFill>
                  <a:srgbClr val="ECECEC"/>
                </a:solidFill>
                <a:latin typeface="Segoe UI"/>
              </a:rPr>
              <a:t>Karambit</a:t>
            </a:r>
            <a:r>
              <a:rPr sz="1600" b="0" i="0">
                <a:solidFill>
                  <a:srgbClr val="ECECEC"/>
                </a:solidFill>
                <a:latin typeface="Segoe UI"/>
              </a:rPr>
              <a:t> Lore — </a:t>
            </a:r>
            <a:r>
              <a:rPr sz="1600" b="0" i="0" err="1">
                <a:solidFill>
                  <a:srgbClr val="ECECEC"/>
                </a:solidFill>
                <a:latin typeface="Segoe UI"/>
              </a:rPr>
              <a:t>hier</a:t>
            </a:r>
            <a:r>
              <a:rPr sz="1600" b="0" i="0">
                <a:solidFill>
                  <a:srgbClr val="ECECEC"/>
                </a:solidFill>
                <a:latin typeface="Segoe UI"/>
              </a:rPr>
              <a:t> </a:t>
            </a:r>
            <a:r>
              <a:rPr sz="1600" b="0" i="0" err="1">
                <a:solidFill>
                  <a:srgbClr val="ECECEC"/>
                </a:solidFill>
                <a:latin typeface="Segoe UI"/>
              </a:rPr>
              <a:t>zum</a:t>
            </a:r>
            <a:r>
              <a:rPr sz="1600" b="0" i="0">
                <a:solidFill>
                  <a:srgbClr val="ECECEC"/>
                </a:solidFill>
                <a:latin typeface="Segoe UI"/>
              </a:rPr>
              <a:t> </a:t>
            </a:r>
            <a:r>
              <a:rPr sz="1600" b="0" i="0" err="1">
                <a:solidFill>
                  <a:srgbClr val="ECECEC"/>
                </a:solidFill>
                <a:latin typeface="Segoe UI"/>
              </a:rPr>
              <a:t>kleineren</a:t>
            </a:r>
            <a:r>
              <a:rPr sz="1600" b="0" i="0">
                <a:solidFill>
                  <a:srgbClr val="ECECEC"/>
                </a:solidFill>
                <a:latin typeface="Segoe UI"/>
              </a:rPr>
              <a:t> </a:t>
            </a:r>
            <a:r>
              <a:rPr sz="1600" b="0" i="0" err="1">
                <a:solidFill>
                  <a:srgbClr val="ECECEC"/>
                </a:solidFill>
                <a:latin typeface="Segoe UI"/>
              </a:rPr>
              <a:t>Einstiegspreis</a:t>
            </a:r>
            <a:endParaRPr sz="1600" b="0" i="0">
              <a:solidFill>
                <a:srgbClr val="ECECEC"/>
              </a:solidFill>
              <a:latin typeface="Segoe UI"/>
            </a:endParaRPr>
          </a:p>
          <a:p>
            <a:pPr marL="228600" indent="-228600">
              <a:spcAft>
                <a:spcPts val="900"/>
              </a:spcAft>
            </a:pPr>
            <a:r>
              <a:rPr sz="1600" b="1" i="0">
                <a:solidFill>
                  <a:srgbClr val="DE953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ECECEC"/>
                </a:solidFill>
                <a:latin typeface="Segoe UI"/>
              </a:rPr>
              <a:t>Risiko </a:t>
            </a:r>
            <a:r>
              <a:rPr sz="1600" b="0" i="0" err="1">
                <a:solidFill>
                  <a:srgbClr val="ECECEC"/>
                </a:solidFill>
                <a:latin typeface="Segoe UI"/>
              </a:rPr>
              <a:t>bleibt</a:t>
            </a:r>
            <a:r>
              <a:rPr sz="1600" b="0" i="0">
                <a:solidFill>
                  <a:srgbClr val="ECECEC"/>
                </a:solidFill>
                <a:latin typeface="Segoe UI"/>
              </a:rPr>
              <a:t>: </a:t>
            </a:r>
            <a:r>
              <a:rPr sz="1600" b="0" i="0" err="1">
                <a:solidFill>
                  <a:srgbClr val="ECECEC"/>
                </a:solidFill>
                <a:latin typeface="Segoe UI"/>
              </a:rPr>
              <a:t>auch</a:t>
            </a:r>
            <a:r>
              <a:rPr sz="1600" b="0" i="0">
                <a:solidFill>
                  <a:srgbClr val="ECECEC"/>
                </a:solidFill>
                <a:latin typeface="Segoe UI"/>
              </a:rPr>
              <a:t> „</a:t>
            </a:r>
            <a:r>
              <a:rPr sz="1600" b="0" i="0" err="1">
                <a:solidFill>
                  <a:srgbClr val="ECECEC"/>
                </a:solidFill>
                <a:latin typeface="Segoe UI"/>
              </a:rPr>
              <a:t>sichere</a:t>
            </a:r>
            <a:r>
              <a:rPr sz="1600" b="0" i="0">
                <a:solidFill>
                  <a:srgbClr val="ECECEC"/>
                </a:solidFill>
                <a:latin typeface="Segoe UI"/>
              </a:rPr>
              <a:t>“ Messer </a:t>
            </a:r>
            <a:r>
              <a:rPr sz="1600" b="0" i="0" err="1">
                <a:solidFill>
                  <a:srgbClr val="ECECEC"/>
                </a:solidFill>
                <a:latin typeface="Segoe UI"/>
              </a:rPr>
              <a:t>folgen</a:t>
            </a:r>
            <a:r>
              <a:rPr sz="1600" b="0" i="0">
                <a:solidFill>
                  <a:srgbClr val="ECECEC"/>
                </a:solidFill>
                <a:latin typeface="Segoe UI"/>
              </a:rPr>
              <a:t> dem </a:t>
            </a:r>
            <a:r>
              <a:rPr sz="1600" b="0" i="0" err="1">
                <a:solidFill>
                  <a:srgbClr val="ECECEC"/>
                </a:solidFill>
                <a:latin typeface="Segoe UI"/>
              </a:rPr>
              <a:t>Gesamtmarkt</a:t>
            </a:r>
            <a:r>
              <a:rPr sz="1600" b="0" i="0">
                <a:solidFill>
                  <a:srgbClr val="ECECEC"/>
                </a:solidFill>
                <a:latin typeface="Segoe UI"/>
              </a:rPr>
              <a:t> </a:t>
            </a:r>
            <a:r>
              <a:rPr sz="1600" b="0" i="0" err="1">
                <a:solidFill>
                  <a:srgbClr val="ECECEC"/>
                </a:solidFill>
                <a:latin typeface="Segoe UI"/>
              </a:rPr>
              <a:t>nach</a:t>
            </a:r>
            <a:r>
              <a:rPr sz="1600" b="0" i="0">
                <a:solidFill>
                  <a:srgbClr val="ECECEC"/>
                </a:solidFill>
                <a:latin typeface="Segoe UI"/>
              </a:rPr>
              <a:t> </a:t>
            </a:r>
            <a:r>
              <a:rPr sz="1600" b="0" i="0" err="1">
                <a:solidFill>
                  <a:srgbClr val="ECECEC"/>
                </a:solidFill>
                <a:latin typeface="Segoe UI"/>
              </a:rPr>
              <a:t>unten</a:t>
            </a:r>
            <a:r>
              <a:rPr sz="1600" b="0" i="0">
                <a:solidFill>
                  <a:srgbClr val="ECECEC"/>
                </a:solidFill>
                <a:latin typeface="Segoe UI"/>
              </a:rPr>
              <a:t> </a:t>
            </a:r>
            <a:r>
              <a:rPr sz="1600" b="0" i="0" err="1">
                <a:solidFill>
                  <a:srgbClr val="ECECEC"/>
                </a:solidFill>
                <a:latin typeface="Segoe UI"/>
              </a:rPr>
              <a:t>wie</a:t>
            </a:r>
            <a:r>
              <a:rPr sz="1600" b="0" i="0">
                <a:solidFill>
                  <a:srgbClr val="ECECEC"/>
                </a:solidFill>
                <a:latin typeface="Segoe UI"/>
              </a:rPr>
              <a:t> </a:t>
            </a:r>
            <a:r>
              <a:rPr sz="1600" b="0" i="0" err="1">
                <a:solidFill>
                  <a:srgbClr val="ECECEC"/>
                </a:solidFill>
                <a:latin typeface="Segoe UI"/>
              </a:rPr>
              <a:t>nach</a:t>
            </a:r>
            <a:r>
              <a:rPr sz="1600" b="0" i="0">
                <a:solidFill>
                  <a:srgbClr val="ECECEC"/>
                </a:solidFill>
                <a:latin typeface="Segoe UI"/>
              </a:rPr>
              <a:t> </a:t>
            </a:r>
            <a:r>
              <a:rPr sz="1600" b="0" i="0" err="1">
                <a:solidFill>
                  <a:srgbClr val="ECECEC"/>
                </a:solidFill>
                <a:latin typeface="Segoe UI"/>
              </a:rPr>
              <a:t>oben</a:t>
            </a:r>
            <a:endParaRPr sz="1600" b="0" i="0">
              <a:solidFill>
                <a:srgbClr val="ECECEC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9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ECECEC"/>
                </a:solidFill>
                <a:latin typeface="Segoe UI"/>
              </a:rPr>
              <a:t>Was kaufen? Kategorien statt heißer Tipps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463040" cy="50292"/>
          </a:xfrm>
          <a:prstGeom prst="rect">
            <a:avLst/>
          </a:prstGeom>
          <a:solidFill>
            <a:srgbClr val="DE9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A8ADB8"/>
                </a:solidFill>
                <a:latin typeface="Segoe UI"/>
              </a:rPr>
              <a:t>CS2 Skin-Markt · Stand: August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ADB8"/>
                </a:solidFill>
                <a:latin typeface="Segoe UI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81328"/>
            <a:ext cx="5387187" cy="3931920"/>
          </a:xfrm>
          <a:prstGeom prst="roundRect">
            <a:avLst/>
          </a:prstGeom>
          <a:solidFill>
            <a:srgbClr val="222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645920"/>
            <a:ext cx="4984851" cy="3602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 i="0">
                <a:solidFill>
                  <a:srgbClr val="DE9535"/>
                </a:solidFill>
                <a:latin typeface="Segoe UI"/>
              </a:rPr>
              <a:t>Eher wertstabil / Potenzial</a:t>
            </a:r>
          </a:p>
          <a:p>
            <a:pPr marL="182880" indent="-182880">
              <a:spcAft>
                <a:spcPts val="700"/>
              </a:spcAft>
            </a:pPr>
            <a:r>
              <a:rPr sz="1350" b="0" i="0">
                <a:solidFill>
                  <a:srgbClr val="DE9535"/>
                </a:solidFill>
                <a:latin typeface="Segoe UI"/>
              </a:rPr>
              <a:t>•  </a:t>
            </a:r>
            <a:r>
              <a:rPr sz="1350" b="0" i="0">
                <a:solidFill>
                  <a:srgbClr val="ECECEC"/>
                </a:solidFill>
                <a:latin typeface="Segoe UI"/>
              </a:rPr>
              <a:t>Messer und Handschuhe beliebter Typen mit gefragten Finishes (Doppler, Fade, Lore)</a:t>
            </a:r>
          </a:p>
          <a:p>
            <a:pPr marL="182880" indent="-182880">
              <a:spcAft>
                <a:spcPts val="700"/>
              </a:spcAft>
            </a:pPr>
            <a:r>
              <a:rPr sz="1350" b="0" i="0">
                <a:solidFill>
                  <a:srgbClr val="DE9535"/>
                </a:solidFill>
                <a:latin typeface="Segoe UI"/>
              </a:rPr>
              <a:t>•  </a:t>
            </a:r>
            <a:r>
              <a:rPr sz="1350" b="0" i="0">
                <a:solidFill>
                  <a:srgbClr val="ECECEC"/>
                </a:solidFill>
                <a:latin typeface="Segoe UI"/>
              </a:rPr>
              <a:t>Skins aus discontinued Kisten und alten Operationen — z. B. Huntsman Knife | Lore</a:t>
            </a:r>
          </a:p>
          <a:p>
            <a:pPr marL="182880" indent="-182880">
              <a:spcAft>
                <a:spcPts val="700"/>
              </a:spcAft>
            </a:pPr>
            <a:r>
              <a:rPr sz="1350" b="0" i="0">
                <a:solidFill>
                  <a:srgbClr val="DE9535"/>
                </a:solidFill>
                <a:latin typeface="Segoe UI"/>
              </a:rPr>
              <a:t>•  </a:t>
            </a:r>
            <a:r>
              <a:rPr sz="1350" b="0" i="0">
                <a:solidFill>
                  <a:srgbClr val="ECECEC"/>
                </a:solidFill>
                <a:latin typeface="Segoe UI"/>
              </a:rPr>
              <a:t>Discontinued Cases selbst als Sammlerobjekte</a:t>
            </a:r>
          </a:p>
          <a:p>
            <a:pPr marL="182880" indent="-182880">
              <a:spcAft>
                <a:spcPts val="700"/>
              </a:spcAft>
            </a:pPr>
            <a:r>
              <a:rPr sz="1350" b="0" i="0">
                <a:solidFill>
                  <a:srgbClr val="DE9535"/>
                </a:solidFill>
                <a:latin typeface="Segoe UI"/>
              </a:rPr>
              <a:t>•  </a:t>
            </a:r>
            <a:r>
              <a:rPr sz="1350" b="0" i="0">
                <a:solidFill>
                  <a:srgbClr val="ECECEC"/>
                </a:solidFill>
                <a:latin typeface="Segoe UI"/>
              </a:rPr>
              <a:t>Ikonische Covert-Klassiker mit Dauernachfrage (AWP | Asiimov, AK-47 | Redline)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55867" y="1481328"/>
            <a:ext cx="5387187" cy="3931920"/>
          </a:xfrm>
          <a:prstGeom prst="roundRect">
            <a:avLst/>
          </a:prstGeom>
          <a:solidFill>
            <a:srgbClr val="222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57035" y="1645920"/>
            <a:ext cx="4984851" cy="3602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 i="0">
                <a:solidFill>
                  <a:srgbClr val="DE9535"/>
                </a:solidFill>
                <a:latin typeface="Segoe UI"/>
              </a:rPr>
              <a:t>Riskanter</a:t>
            </a:r>
          </a:p>
          <a:p>
            <a:pPr marL="182880" indent="-182880">
              <a:spcAft>
                <a:spcPts val="700"/>
              </a:spcAft>
            </a:pPr>
            <a:r>
              <a:rPr sz="1350" b="0" i="0">
                <a:solidFill>
                  <a:srgbClr val="DE9535"/>
                </a:solidFill>
                <a:latin typeface="Segoe UI"/>
              </a:rPr>
              <a:t>•  </a:t>
            </a:r>
            <a:r>
              <a:rPr sz="1350" b="0" i="0">
                <a:solidFill>
                  <a:srgbClr val="ECECEC"/>
                </a:solidFill>
                <a:latin typeface="Segoe UI"/>
              </a:rPr>
              <a:t>Skins aus aktiven Kisten — das Angebot wächst jeden Tag weiter</a:t>
            </a:r>
          </a:p>
          <a:p>
            <a:pPr marL="182880" indent="-182880">
              <a:spcAft>
                <a:spcPts val="700"/>
              </a:spcAft>
            </a:pPr>
            <a:r>
              <a:rPr sz="1350" b="0" i="0">
                <a:solidFill>
                  <a:srgbClr val="DE9535"/>
                </a:solidFill>
                <a:latin typeface="Segoe UI"/>
              </a:rPr>
              <a:t>•  </a:t>
            </a:r>
            <a:r>
              <a:rPr sz="1350" b="0" i="0">
                <a:solidFill>
                  <a:srgbClr val="ECECEC"/>
                </a:solidFill>
                <a:latin typeface="Segoe UI"/>
              </a:rPr>
              <a:t>Hype-Items direkt nach Release</a:t>
            </a:r>
          </a:p>
          <a:p>
            <a:pPr marL="182880" indent="-182880">
              <a:spcAft>
                <a:spcPts val="700"/>
              </a:spcAft>
            </a:pPr>
            <a:r>
              <a:rPr sz="1350" b="0" i="0">
                <a:solidFill>
                  <a:srgbClr val="DE9535"/>
                </a:solidFill>
                <a:latin typeface="Segoe UI"/>
              </a:rPr>
              <a:t>•  </a:t>
            </a:r>
            <a:r>
              <a:rPr sz="1350" b="0" i="0">
                <a:solidFill>
                  <a:srgbClr val="ECECEC"/>
                </a:solidFill>
                <a:latin typeface="Segoe UI"/>
              </a:rPr>
              <a:t>Sticker- und Pattern-Spekulation ohne eigenes Fachwissen</a:t>
            </a:r>
          </a:p>
          <a:p>
            <a:pPr marL="182880" indent="-182880">
              <a:spcAft>
                <a:spcPts val="700"/>
              </a:spcAft>
            </a:pPr>
            <a:r>
              <a:rPr sz="1350" b="0" i="0">
                <a:solidFill>
                  <a:srgbClr val="DE9535"/>
                </a:solidFill>
                <a:latin typeface="Segoe UI"/>
              </a:rPr>
              <a:t>•  </a:t>
            </a:r>
            <a:r>
              <a:rPr sz="1350" b="0" i="0">
                <a:solidFill>
                  <a:srgbClr val="ECECEC"/>
                </a:solidFill>
                <a:latin typeface="Segoe UI"/>
              </a:rPr>
              <a:t>Alles, was man nur wegen eines YouTube-Videos kauft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5778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A8ADB8"/>
                </a:solidFill>
                <a:latin typeface="Segoe UI"/>
              </a:rPr>
              <a:t>Keine Anlageberatung: Der Skin-Markt ist unreguliert, hängt komplett an Valve und kann jederzeit stark fallen.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9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ECECEC"/>
                </a:solidFill>
                <a:latin typeface="Segoe UI"/>
              </a:rPr>
              <a:t>Fazit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463040" cy="50292"/>
          </a:xfrm>
          <a:prstGeom prst="rect">
            <a:avLst/>
          </a:prstGeom>
          <a:solidFill>
            <a:srgbClr val="DE9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A8ADB8"/>
                </a:solidFill>
                <a:latin typeface="Segoe UI"/>
              </a:rPr>
              <a:t>CS2 Skin-Markt · Stand: August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8ADB8"/>
                </a:solidFill>
                <a:latin typeface="Segoe UI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94415" cy="4828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 i="0">
                <a:solidFill>
                  <a:srgbClr val="DE9535"/>
                </a:solidFill>
                <a:latin typeface="Segoe UI"/>
              </a:rPr>
              <a:t>Preis = Finish + Float/Pattern + Seltenheit + Marktplatz-Wahl</a:t>
            </a:r>
          </a:p>
          <a:p>
            <a:pPr marL="228600" indent="-228600">
              <a:spcAft>
                <a:spcPts val="900"/>
              </a:spcAft>
            </a:pPr>
            <a:r>
              <a:rPr sz="1600" b="1" i="0">
                <a:solidFill>
                  <a:srgbClr val="DE953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ECECEC"/>
                </a:solidFill>
                <a:latin typeface="Segoe UI"/>
              </a:rPr>
              <a:t>Steam Market: bequem und sicher, aber 15 % Gebühr und kein echtes Geld</a:t>
            </a:r>
          </a:p>
          <a:p>
            <a:pPr marL="228600" indent="-228600">
              <a:spcAft>
                <a:spcPts val="900"/>
              </a:spcAft>
            </a:pPr>
            <a:r>
              <a:rPr sz="1600" b="1" i="0">
                <a:solidFill>
                  <a:srgbClr val="DE953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ECECEC"/>
                </a:solidFill>
                <a:latin typeface="Segoe UI"/>
              </a:rPr>
              <a:t>CSFloat und Skinport: beste Preise und Auszahlung — CS.MONEY/SkinsMonkey nur fürs schnelle Tauschen</a:t>
            </a:r>
          </a:p>
          <a:p>
            <a:pPr marL="228600" indent="-228600">
              <a:spcAft>
                <a:spcPts val="900"/>
              </a:spcAft>
            </a:pPr>
            <a:r>
              <a:rPr sz="1600" b="1" i="0">
                <a:solidFill>
                  <a:srgbClr val="DE953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ECECEC"/>
                </a:solidFill>
                <a:latin typeface="Segoe UI"/>
              </a:rPr>
              <a:t>Wert entsteht aus knappem Angebot plus wachsender Nachfrage — discontinued schlägt aktiv</a:t>
            </a:r>
          </a:p>
          <a:p>
            <a:pPr marL="228600" indent="-228600">
              <a:spcAft>
                <a:spcPts val="900"/>
              </a:spcAft>
            </a:pPr>
            <a:r>
              <a:rPr sz="1600" b="1" i="0">
                <a:solidFill>
                  <a:srgbClr val="DE953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ECECEC"/>
                </a:solidFill>
                <a:latin typeface="Segoe UI"/>
              </a:rPr>
              <a:t>Vor jedem Kauf: Preisvergleich, Float-Check, Liquidität und Gebühren prüfen</a:t>
            </a:r>
          </a:p>
          <a:p>
            <a:pPr marL="228600" indent="-228600">
              <a:spcAft>
                <a:spcPts val="900"/>
              </a:spcAft>
            </a:pPr>
            <a:r>
              <a:rPr sz="1600" b="1" i="0">
                <a:solidFill>
                  <a:srgbClr val="DE953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ECECEC"/>
                </a:solidFill>
                <a:latin typeface="Segoe UI"/>
              </a:rPr>
              <a:t>Quellen: steamanalyst.com · csmarketcap.com · pricempire.com · csfloat.com · Steam Community Market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Microsoft Office PowerPoint</Application>
  <PresentationFormat>Widescreen</PresentationFormat>
  <Slides>19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1</cp:revision>
  <dcterms:created xsi:type="dcterms:W3CDTF">2013-01-27T09:14:16Z</dcterms:created>
  <dcterms:modified xsi:type="dcterms:W3CDTF">2026-08-15T14:47:18Z</dcterms:modified>
  <cp:category/>
</cp:coreProperties>
</file>